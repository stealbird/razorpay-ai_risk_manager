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451"/>
                </a:solidFill>
                <a:latin typeface="Arial"/>
              </a:defRPr>
            </a:pPr>
            <a:r>
              <a:rPr sz="1300" b="0" i="0" u="none" strike="noStrike">
                <a:solidFill>
                  <a:srgbClr val="0C2451"/>
                </a:solidFill>
                <a:latin typeface="Arial"/>
              </a:rPr>
              <a:t>PR-AUC by model stage</a:t>
            </a:r>
          </a:p>
        </c:rich>
      </c:tx>
      <c:layout/>
      <c:overlay val="0"/>
    </c:title>
    <c:autoTitleDeleted val="0"/>
    <c:plotArea>
      <c:layout/>
      <c:barChart>
        <c:barDir val="col"/>
        <c:grouping val="clustered"/>
        <c:varyColors val="0"/>
        <c:ser>
          <c:idx val="0"/>
          <c:order val="0"/>
          <c:tx>
            <c:strRef>
              <c:f>Sheet1!$B$1</c:f>
              <c:strCache>
                <c:ptCount val="1"/>
                <c:pt idx="0">
                  <c:v>PR-AUC</c:v>
                </c:pt>
              </c:strCache>
            </c:strRef>
          </c:tx>
          <c:spPr>
            <a:solidFill>
              <a:srgbClr val="3395FF"/>
            </a:solidFill>
            <a:effectLst/>
          </c:spPr>
          <c:invertIfNegative val="0"/>
          <c:dLbls>
            <c:numFmt formatCode="0.0000" sourceLinked="0"/>
            <c:txPr>
              <a:bodyPr/>
              <a:lstStyle/>
              <a:p>
                <a:pPr>
                  <a:defRPr b="0" i="0" strike="noStrike" sz="1100" u="none">
                    <a:solidFill>
                      <a:srgbClr val="0C2451"/>
                    </a:solidFill>
                    <a:latin typeface="Arial"/>
                  </a:defRPr>
                </a:pPr>
              </a:p>
            </c:txPr>
            <c:showLegendKey val="0"/>
            <c:showVal val="1"/>
            <c:showCatName val="0"/>
            <c:showSerName val="0"/>
            <c:showPercent val="0"/>
            <c:showBubbleSize val="0"/>
            <c:showLeaderLines val="0"/>
          </c:dLbls>
          <c:cat>
            <c:multiLvlStrRef>
              <c:f>Sheet1!$A$2:$A$4</c:f>
              <c:multiLvlStrCache>
                <c:ptCount val="3"/>
                <c:lvl>
                  <c:pt idx="0">
                    <c:v>Baseline
(3 features)</c:v>
                  </c:pt>
                  <c:pt idx="1">
                    <c:v>+ Feature
engineering</c:v>
                  </c:pt>
                  <c:pt idx="2">
                    <c:v>XGBoost
(final)</c:v>
                  </c:pt>
                </c:lvl>
              </c:multiLvlStrCache>
            </c:multiLvlStrRef>
          </c:cat>
          <c:val>
            <c:numRef>
              <c:f>Sheet1!$B$2:$B$4</c:f>
              <c:numCache>
                <c:formatCode>General</c:formatCode>
                <c:ptCount val="3"/>
                <c:pt idx="0">
                  <c:v>0.0218</c:v>
                </c:pt>
                <c:pt idx="1">
                  <c:v>0.0462</c:v>
                </c:pt>
                <c:pt idx="2">
                  <c:v>0.6208</c:v>
                </c:pt>
              </c:numCache>
            </c:numRef>
          </c:val>
        </c:ser>
        <c:dLbls>
          <c:numFmt formatCode="0.0000" sourceLinked="0"/>
          <c:txPr>
            <a:bodyPr/>
            <a:lstStyle/>
            <a:p>
              <a:pPr>
                <a:defRPr b="0" i="0" strike="noStrike" sz="1100" u="none">
                  <a:solidFill>
                    <a:srgbClr val="0C2451"/>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K. This is AI Risk Manager, my submission for Track 2 of the Razorpay AI Buildathon. It's a fraud detection system for TRANSFER and CASH_OUT transactions, built end to end: data pipeline, a leakage-free feature set, an XGBoost model, SHAP explainability, a live API, and a dashboard. Headline number: PR-AUC of 0.62, a 28x improvement over a naive baseline. Let me walk through how I got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framed this project. One — fraud is only 0.3% of relevant transactions, so raw accuracy is a meaningless, gameable metric. Two — Track 2's own bar explicitly asks for honest precision and recall, false-positive cost, and defense-only scope. Three — early on I found the dataset's balance columns get reset the instant fraud is flagged, which is a leakage trap — using them would let the model cheat by seeing the aftermath of fraud instead of predicting it beforehand. I excluded them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four stages. First, data and leakage — I scoped to TRANSFER and CASH_OUT, the only two transaction types where fraud occurs, and dropped anything that leaks the outcome. Second, feature engineering — fourteen features built from customer and recipient history, all computed strictly backward in time so nothing from the future leaks into a prediction. Third, I started with logistic regression as an honest baseline, then moved to XGBoost once I saw the baseline couldn't capture feature interactions. Fourth, SHAP gives a per-transaction explanation, not just a black-box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result. Baseline logistic regression on three raw features scored a PR-AUC of 0.02 — essentially barely better than random given how rare fraud is. Adding fourteen engineered features roughly doubled that. Switching to XGBoost jumped it to 0.62 — a 28x improvement over where we started. At a threshold of 0.9, that's 70% of fraud caught at 29% precision — a real, honest, usable operating point, not a cherry-picked number. And this isn't fixed — the dashboard has a live threshold slider so you can see precision and recall trade off against each other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thing runs as a working system, not isolated scripts. A FastAPI backend exposes /score and /explain — given a customer, recipient, and transaction, it automatically looks up that customer's history, the same way a real payments system would, computes the features live, and returns a score plus a SHAP explanation. The Streamlit dashboard sits on top: I can type in a transaction right now, get a live risk score, and see the top contributing factors. The threshold slider on the dashboard lets you watch precision and recall trade off in real time. I'll show this live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model is perfect, and I'd rather show that than hide it. Three real cases: a false positive where a legitimate first-time transfer shared fraud's exact fingerprint; a false negative where fraud mimicked routine behavior and slipped past at basically a coin flip; and an out-of-distribution case I found live while testing the dashboard — a one-rupee transfer flagged high risk — which I fixed with a simple minimum-amount business rule rather than hiding it. Next steps would be recipient-pair history, an anomaly-detection ensemble, and account verification signals. Everything is on GitHub, fully documented, and I'm happy to walk through any part of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451"/>
        </a:solidFill>
      </p:bgPr>
    </p:bg>
    <p:spTree>
      <p:nvGrpSpPr>
        <p:cNvPr id="1" name=""/>
        <p:cNvGrpSpPr/>
        <p:nvPr/>
      </p:nvGrpSpPr>
      <p:grpSpPr>
        <a:xfrm>
          <a:off x="0" y="0"/>
          <a:ext cx="0" cy="0"/>
          <a:chOff x="0" y="0"/>
          <a:chExt cx="0" cy="0"/>
        </a:xfrm>
      </p:grpSpPr>
      <p:sp>
        <p:nvSpPr>
          <p:cNvPr id="2" name="Shape 0"/>
          <p:cNvSpPr/>
          <p:nvPr/>
        </p:nvSpPr>
        <p:spPr>
          <a:xfrm>
            <a:off x="640080" y="548640"/>
            <a:ext cx="3291840" cy="457200"/>
          </a:xfrm>
          <a:prstGeom prst="roundRect">
            <a:avLst>
              <a:gd name="adj" fmla="val 50000"/>
            </a:avLst>
          </a:prstGeom>
          <a:solidFill>
            <a:srgbClr val="3395FF">
              <a:alpha val="15000"/>
            </a:srgbClr>
          </a:solidFill>
          <a:ln/>
        </p:spPr>
      </p:sp>
      <p:sp>
        <p:nvSpPr>
          <p:cNvPr id="3" name="Text 1"/>
          <p:cNvSpPr/>
          <p:nvPr/>
        </p:nvSpPr>
        <p:spPr>
          <a:xfrm>
            <a:off x="640080" y="548640"/>
            <a:ext cx="3291840" cy="457200"/>
          </a:xfrm>
          <a:prstGeom prst="rect">
            <a:avLst/>
          </a:prstGeom>
          <a:noFill/>
          <a:ln/>
        </p:spPr>
        <p:txBody>
          <a:bodyPr wrap="square" rtlCol="0" anchor="ctr"/>
          <a:lstStyle/>
          <a:p>
            <a:pPr algn="ctr" indent="0" marL="0">
              <a:buNone/>
            </a:pPr>
            <a:r>
              <a:rPr lang="en-US" sz="1200" b="1" spc="100" kern="0" dirty="0">
                <a:solidFill>
                  <a:srgbClr val="3395FF"/>
                </a:solidFill>
                <a:latin typeface="Arial" pitchFamily="34" charset="0"/>
                <a:ea typeface="Arial" pitchFamily="34" charset="-122"/>
                <a:cs typeface="Arial" pitchFamily="34" charset="-120"/>
              </a:rPr>
              <a:t>RAZORPAY AI BUILDATHON  ·  TRACK 02</a:t>
            </a:r>
            <a:endParaRPr lang="en-US" sz="1200" dirty="0"/>
          </a:p>
        </p:txBody>
      </p:sp>
      <p:sp>
        <p:nvSpPr>
          <p:cNvPr id="4" name="Text 2"/>
          <p:cNvSpPr/>
          <p:nvPr/>
        </p:nvSpPr>
        <p:spPr>
          <a:xfrm>
            <a:off x="822960" y="2286000"/>
            <a:ext cx="10515600" cy="118872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AI Risk Manager</a:t>
            </a:r>
            <a:endParaRPr lang="en-US" sz="4800" dirty="0"/>
          </a:p>
        </p:txBody>
      </p:sp>
      <p:sp>
        <p:nvSpPr>
          <p:cNvPr id="5" name="Text 3"/>
          <p:cNvSpPr/>
          <p:nvPr/>
        </p:nvSpPr>
        <p:spPr>
          <a:xfrm>
            <a:off x="822960" y="3429000"/>
            <a:ext cx="9601200" cy="731520"/>
          </a:xfrm>
          <a:prstGeom prst="rect">
            <a:avLst/>
          </a:prstGeom>
          <a:noFill/>
          <a:ln/>
        </p:spPr>
        <p:txBody>
          <a:bodyPr wrap="square" lIns="0" tIns="0" rIns="0" bIns="0" rtlCol="0" anchor="ctr"/>
          <a:lstStyle/>
          <a:p>
            <a:pPr indent="0" marL="0">
              <a:buNone/>
            </a:pPr>
            <a:r>
              <a:rPr lang="en-US" sz="1800" dirty="0">
                <a:solidFill>
                  <a:srgbClr val="C9D6EC"/>
                </a:solidFill>
                <a:latin typeface="Arial" pitchFamily="34" charset="0"/>
                <a:ea typeface="Arial" pitchFamily="34" charset="-122"/>
                <a:cs typeface="Arial" pitchFamily="34" charset="-120"/>
              </a:rPr>
              <a:t>Catching fraud in TRANSFER &amp; CASH_OUT transactions — with honest metrics and explainable decisions</a:t>
            </a:r>
            <a:endParaRPr lang="en-US" sz="1800" dirty="0"/>
          </a:p>
        </p:txBody>
      </p:sp>
      <p:sp>
        <p:nvSpPr>
          <p:cNvPr id="6" name="Shape 4"/>
          <p:cNvSpPr/>
          <p:nvPr/>
        </p:nvSpPr>
        <p:spPr>
          <a:xfrm>
            <a:off x="822960" y="4480560"/>
            <a:ext cx="2743200" cy="0"/>
          </a:xfrm>
          <a:prstGeom prst="line">
            <a:avLst/>
          </a:prstGeom>
          <a:noFill/>
          <a:ln w="25400">
            <a:solidFill>
              <a:srgbClr val="3395FF"/>
            </a:solidFill>
            <a:prstDash val="solid"/>
          </a:ln>
        </p:spPr>
      </p:sp>
      <p:sp>
        <p:nvSpPr>
          <p:cNvPr id="7" name="Text 5"/>
          <p:cNvSpPr/>
          <p:nvPr/>
        </p:nvSpPr>
        <p:spPr>
          <a:xfrm>
            <a:off x="822960" y="4709160"/>
            <a:ext cx="9601200" cy="5486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PR-AUC 0.6208</a:t>
            </a:r>
            <a:pPr indent="0" marL="0">
              <a:buNone/>
            </a:pPr>
            <a:r>
              <a:rPr lang="en-US" sz="1600" dirty="0">
                <a:solidFill>
                  <a:srgbClr val="9FB3D9"/>
                </a:solidFill>
                <a:latin typeface="Arial" pitchFamily="34" charset="0"/>
                <a:ea typeface="Arial" pitchFamily="34" charset="-122"/>
                <a:cs typeface="Arial" pitchFamily="34" charset="-120"/>
              </a:rPr>
              <a:t>   ·   28x over baseline   ·   XGBoost + SHAP
</a:t>
            </a:r>
            <a:endParaRPr lang="en-US" sz="1600" dirty="0"/>
          </a:p>
        </p:txBody>
      </p:sp>
      <p:sp>
        <p:nvSpPr>
          <p:cNvPr id="8" name="Text 6"/>
          <p:cNvSpPr/>
          <p:nvPr/>
        </p:nvSpPr>
        <p:spPr>
          <a:xfrm>
            <a:off x="822960" y="6126480"/>
            <a:ext cx="9144000" cy="365760"/>
          </a:xfrm>
          <a:prstGeom prst="rect">
            <a:avLst/>
          </a:prstGeom>
          <a:noFill/>
          <a:ln/>
        </p:spPr>
        <p:txBody>
          <a:bodyPr wrap="square" lIns="0" tIns="0" rIns="0" bIns="0" rtlCol="0" anchor="ctr"/>
          <a:lstStyle/>
          <a:p>
            <a:pPr indent="0" marL="0">
              <a:buNone/>
            </a:pPr>
            <a:r>
              <a:rPr lang="en-US" sz="1200" dirty="0">
                <a:solidFill>
                  <a:srgbClr val="7C8FB3"/>
                </a:solidFill>
                <a:latin typeface="Arial" pitchFamily="34" charset="0"/>
                <a:ea typeface="Arial" pitchFamily="34" charset="-122"/>
                <a:cs typeface="Arial" pitchFamily="34" charset="-120"/>
              </a:rPr>
              <a:t>Built by K  ·  github.com/StealBird/RazorPay-ai_risk_manager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822960" y="502920"/>
            <a:ext cx="7315200" cy="640080"/>
          </a:xfrm>
          <a:prstGeom prst="rect">
            <a:avLst/>
          </a:prstGeom>
          <a:noFill/>
          <a:ln/>
        </p:spPr>
        <p:txBody>
          <a:bodyPr wrap="square" lIns="0" tIns="0" rIns="0" bIns="0" rtlCol="0" anchor="ctr"/>
          <a:lstStyle/>
          <a:p>
            <a:pPr indent="0" marL="0">
              <a:buNone/>
            </a:pPr>
            <a:r>
              <a:rPr lang="en-US" sz="3000" b="1" dirty="0">
                <a:solidFill>
                  <a:srgbClr val="0C2451"/>
                </a:solidFill>
                <a:latin typeface="Arial" pitchFamily="34" charset="0"/>
                <a:ea typeface="Arial" pitchFamily="34" charset="-122"/>
                <a:cs typeface="Arial" pitchFamily="34" charset="-120"/>
              </a:rPr>
              <a:t>The problem</a:t>
            </a:r>
            <a:endParaRPr lang="en-US" sz="3000" dirty="0"/>
          </a:p>
        </p:txBody>
      </p:sp>
      <p:sp>
        <p:nvSpPr>
          <p:cNvPr id="3" name="Text 1"/>
          <p:cNvSpPr/>
          <p:nvPr/>
        </p:nvSpPr>
        <p:spPr>
          <a:xfrm>
            <a:off x="822960" y="1051560"/>
            <a:ext cx="9601200" cy="457200"/>
          </a:xfrm>
          <a:prstGeom prst="rect">
            <a:avLst/>
          </a:prstGeom>
          <a:noFill/>
          <a:ln/>
        </p:spPr>
        <p:txBody>
          <a:bodyPr wrap="square" lIns="0" tIns="0" rIns="0" bIns="0" rtlCol="0" anchor="ctr"/>
          <a:lstStyle/>
          <a:p>
            <a:pPr indent="0" marL="0">
              <a:buNone/>
            </a:pPr>
            <a:r>
              <a:rPr lang="en-US" sz="1500" dirty="0">
                <a:solidFill>
                  <a:srgbClr val="5B6472"/>
                </a:solidFill>
                <a:latin typeface="Arial" pitchFamily="34" charset="0"/>
                <a:ea typeface="Arial" pitchFamily="34" charset="-122"/>
                <a:cs typeface="Arial" pitchFamily="34" charset="-120"/>
              </a:rPr>
              <a:t>Fraud is a needle in a haystack — and a naive model can cheat</a:t>
            </a:r>
            <a:endParaRPr lang="en-US" sz="1500" dirty="0"/>
          </a:p>
        </p:txBody>
      </p:sp>
      <p:sp>
        <p:nvSpPr>
          <p:cNvPr id="4" name="Shape 2"/>
          <p:cNvSpPr/>
          <p:nvPr/>
        </p:nvSpPr>
        <p:spPr>
          <a:xfrm>
            <a:off x="822960" y="1920240"/>
            <a:ext cx="3300984" cy="4114800"/>
          </a:xfrm>
          <a:prstGeom prst="roundRect">
            <a:avLst>
              <a:gd name="adj" fmla="val 3324"/>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5" name="Text 3"/>
          <p:cNvSpPr/>
          <p:nvPr/>
        </p:nvSpPr>
        <p:spPr>
          <a:xfrm>
            <a:off x="1097280" y="2240280"/>
            <a:ext cx="2752344" cy="640080"/>
          </a:xfrm>
          <a:prstGeom prst="rect">
            <a:avLst/>
          </a:prstGeom>
          <a:noFill/>
          <a:ln/>
        </p:spPr>
        <p:txBody>
          <a:bodyPr wrap="square" lIns="0" tIns="0" rIns="0" bIns="0" rtlCol="0" anchor="ctr"/>
          <a:lstStyle/>
          <a:p>
            <a:pPr indent="0" marL="0">
              <a:buNone/>
            </a:pPr>
            <a:r>
              <a:rPr lang="en-US" sz="2600" b="1" dirty="0">
                <a:solidFill>
                  <a:srgbClr val="D85A30"/>
                </a:solidFill>
                <a:latin typeface="Arial" pitchFamily="34" charset="0"/>
                <a:ea typeface="Arial" pitchFamily="34" charset="-122"/>
                <a:cs typeface="Arial" pitchFamily="34" charset="-120"/>
              </a:rPr>
              <a:t>0.3%</a:t>
            </a:r>
            <a:endParaRPr lang="en-US" sz="2600" dirty="0"/>
          </a:p>
        </p:txBody>
      </p:sp>
      <p:sp>
        <p:nvSpPr>
          <p:cNvPr id="6" name="Text 4"/>
          <p:cNvSpPr/>
          <p:nvPr/>
        </p:nvSpPr>
        <p:spPr>
          <a:xfrm>
            <a:off x="1097280" y="2834640"/>
            <a:ext cx="2752344" cy="320040"/>
          </a:xfrm>
          <a:prstGeom prst="rect">
            <a:avLst/>
          </a:prstGeom>
          <a:noFill/>
          <a:ln/>
        </p:spPr>
        <p:txBody>
          <a:bodyPr wrap="square" lIns="0" tIns="0" rIns="0" bIns="0" rtlCol="0" anchor="ctr"/>
          <a:lstStyle/>
          <a:p>
            <a:pPr indent="0" marL="0">
              <a:buNone/>
            </a:pPr>
            <a:r>
              <a:rPr lang="en-US" sz="1100" b="1" spc="100" kern="0" dirty="0">
                <a:solidFill>
                  <a:srgbClr val="5B6472"/>
                </a:solidFill>
                <a:latin typeface="Arial" pitchFamily="34" charset="0"/>
                <a:ea typeface="Arial" pitchFamily="34" charset="-122"/>
                <a:cs typeface="Arial" pitchFamily="34" charset="-120"/>
              </a:rPr>
              <a:t>FRAUD RATE</a:t>
            </a:r>
            <a:endParaRPr lang="en-US" sz="1100" dirty="0"/>
          </a:p>
        </p:txBody>
      </p:sp>
      <p:sp>
        <p:nvSpPr>
          <p:cNvPr id="7" name="Text 5"/>
          <p:cNvSpPr/>
          <p:nvPr/>
        </p:nvSpPr>
        <p:spPr>
          <a:xfrm>
            <a:off x="1097280" y="3246120"/>
            <a:ext cx="2752344" cy="2514600"/>
          </a:xfrm>
          <a:prstGeom prst="rect">
            <a:avLst/>
          </a:prstGeom>
          <a:noFill/>
          <a:ln/>
        </p:spPr>
        <p:txBody>
          <a:bodyPr wrap="square" lIns="0" tIns="0" rIns="0" bIns="0" rtlCol="0" anchor="ctr"/>
          <a:lstStyle/>
          <a:p>
            <a:pPr indent="0" marL="0">
              <a:lnSpc>
                <a:spcPct val="125000"/>
              </a:lnSpc>
              <a:buNone/>
            </a:pPr>
            <a:r>
              <a:rPr lang="en-US" sz="1300" dirty="0">
                <a:solidFill>
                  <a:srgbClr val="111827"/>
                </a:solidFill>
                <a:latin typeface="Arial" pitchFamily="34" charset="0"/>
                <a:ea typeface="Arial" pitchFamily="34" charset="-122"/>
                <a:cs typeface="Arial" pitchFamily="34" charset="-120"/>
              </a:rPr>
              <a:t>In the filtered dataset (TRANSFER + CASH_OUT), fraud is a tiny minority. A model that always predicts "legitimate" scores 99.7% accuracy while catching zero fraud.</a:t>
            </a:r>
            <a:endParaRPr lang="en-US" sz="1300" dirty="0"/>
          </a:p>
        </p:txBody>
      </p:sp>
      <p:sp>
        <p:nvSpPr>
          <p:cNvPr id="8" name="Shape 6"/>
          <p:cNvSpPr/>
          <p:nvPr/>
        </p:nvSpPr>
        <p:spPr>
          <a:xfrm>
            <a:off x="4443984" y="1920240"/>
            <a:ext cx="3300984" cy="4114800"/>
          </a:xfrm>
          <a:prstGeom prst="roundRect">
            <a:avLst>
              <a:gd name="adj" fmla="val 3324"/>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9" name="Text 7"/>
          <p:cNvSpPr/>
          <p:nvPr/>
        </p:nvSpPr>
        <p:spPr>
          <a:xfrm>
            <a:off x="4718304" y="2240280"/>
            <a:ext cx="2752344" cy="640080"/>
          </a:xfrm>
          <a:prstGeom prst="rect">
            <a:avLst/>
          </a:prstGeom>
          <a:noFill/>
          <a:ln/>
        </p:spPr>
        <p:txBody>
          <a:bodyPr wrap="square" lIns="0" tIns="0" rIns="0" bIns="0" rtlCol="0" anchor="ctr"/>
          <a:lstStyle/>
          <a:p>
            <a:pPr indent="0" marL="0">
              <a:buNone/>
            </a:pPr>
            <a:r>
              <a:rPr lang="en-US" sz="2600" b="1" dirty="0">
                <a:solidFill>
                  <a:srgbClr val="1F5FCC"/>
                </a:solidFill>
                <a:latin typeface="Arial" pitchFamily="34" charset="0"/>
                <a:ea typeface="Arial" pitchFamily="34" charset="-122"/>
                <a:cs typeface="Arial" pitchFamily="34" charset="-120"/>
              </a:rPr>
              <a:t>Track 02</a:t>
            </a:r>
            <a:endParaRPr lang="en-US" sz="2600" dirty="0"/>
          </a:p>
        </p:txBody>
      </p:sp>
      <p:sp>
        <p:nvSpPr>
          <p:cNvPr id="10" name="Text 8"/>
          <p:cNvSpPr/>
          <p:nvPr/>
        </p:nvSpPr>
        <p:spPr>
          <a:xfrm>
            <a:off x="4718304" y="2834640"/>
            <a:ext cx="2752344" cy="320040"/>
          </a:xfrm>
          <a:prstGeom prst="rect">
            <a:avLst/>
          </a:prstGeom>
          <a:noFill/>
          <a:ln/>
        </p:spPr>
        <p:txBody>
          <a:bodyPr wrap="square" lIns="0" tIns="0" rIns="0" bIns="0" rtlCol="0" anchor="ctr"/>
          <a:lstStyle/>
          <a:p>
            <a:pPr indent="0" marL="0">
              <a:buNone/>
            </a:pPr>
            <a:r>
              <a:rPr lang="en-US" sz="1100" b="1" spc="100" kern="0" dirty="0">
                <a:solidFill>
                  <a:srgbClr val="5B6472"/>
                </a:solidFill>
                <a:latin typeface="Arial" pitchFamily="34" charset="0"/>
                <a:ea typeface="Arial" pitchFamily="34" charset="-122"/>
                <a:cs typeface="Arial" pitchFamily="34" charset="-120"/>
              </a:rPr>
              <a:t>THE BAR</a:t>
            </a:r>
            <a:endParaRPr lang="en-US" sz="1100" dirty="0"/>
          </a:p>
        </p:txBody>
      </p:sp>
      <p:sp>
        <p:nvSpPr>
          <p:cNvPr id="11" name="Text 9"/>
          <p:cNvSpPr/>
          <p:nvPr/>
        </p:nvSpPr>
        <p:spPr>
          <a:xfrm>
            <a:off x="4718304" y="3246120"/>
            <a:ext cx="2752344" cy="2514600"/>
          </a:xfrm>
          <a:prstGeom prst="rect">
            <a:avLst/>
          </a:prstGeom>
          <a:noFill/>
          <a:ln/>
        </p:spPr>
        <p:txBody>
          <a:bodyPr wrap="square" lIns="0" tIns="0" rIns="0" bIns="0" rtlCol="0" anchor="ctr"/>
          <a:lstStyle/>
          <a:p>
            <a:pPr indent="0" marL="0">
              <a:lnSpc>
                <a:spcPct val="125000"/>
              </a:lnSpc>
              <a:buNone/>
            </a:pPr>
            <a:r>
              <a:rPr lang="en-US" sz="1300" dirty="0">
                <a:solidFill>
                  <a:srgbClr val="111827"/>
                </a:solidFill>
                <a:latin typeface="Arial" pitchFamily="34" charset="0"/>
                <a:ea typeface="Arial" pitchFamily="34" charset="-122"/>
                <a:cs typeface="Arial" pitchFamily="34" charset="-120"/>
              </a:rPr>
              <a:t>"Honest metrics including false-positive cost. Strictly defense-only." Precision and recall on a held-out set — not accuracy, not cherry-picked demos.</a:t>
            </a:r>
            <a:endParaRPr lang="en-US" sz="1300" dirty="0"/>
          </a:p>
        </p:txBody>
      </p:sp>
      <p:sp>
        <p:nvSpPr>
          <p:cNvPr id="12" name="Shape 10"/>
          <p:cNvSpPr/>
          <p:nvPr/>
        </p:nvSpPr>
        <p:spPr>
          <a:xfrm>
            <a:off x="8065008" y="1920240"/>
            <a:ext cx="3300984" cy="4114800"/>
          </a:xfrm>
          <a:prstGeom prst="roundRect">
            <a:avLst>
              <a:gd name="adj" fmla="val 3324"/>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13" name="Text 11"/>
          <p:cNvSpPr/>
          <p:nvPr/>
        </p:nvSpPr>
        <p:spPr>
          <a:xfrm>
            <a:off x="8339328" y="2240280"/>
            <a:ext cx="2752344" cy="640080"/>
          </a:xfrm>
          <a:prstGeom prst="rect">
            <a:avLst/>
          </a:prstGeom>
          <a:noFill/>
          <a:ln/>
        </p:spPr>
        <p:txBody>
          <a:bodyPr wrap="square" lIns="0" tIns="0" rIns="0" bIns="0" rtlCol="0" anchor="ctr"/>
          <a:lstStyle/>
          <a:p>
            <a:pPr indent="0" marL="0">
              <a:buNone/>
            </a:pPr>
            <a:r>
              <a:rPr lang="en-US" sz="2600" b="1" dirty="0">
                <a:solidFill>
                  <a:srgbClr val="1D9E75"/>
                </a:solidFill>
                <a:latin typeface="Arial" pitchFamily="34" charset="0"/>
                <a:ea typeface="Arial" pitchFamily="34" charset="-122"/>
                <a:cs typeface="Arial" pitchFamily="34" charset="-120"/>
              </a:rPr>
              <a:t>Leakage</a:t>
            </a:r>
            <a:endParaRPr lang="en-US" sz="2600" dirty="0"/>
          </a:p>
        </p:txBody>
      </p:sp>
      <p:sp>
        <p:nvSpPr>
          <p:cNvPr id="14" name="Text 12"/>
          <p:cNvSpPr/>
          <p:nvPr/>
        </p:nvSpPr>
        <p:spPr>
          <a:xfrm>
            <a:off x="8339328" y="2834640"/>
            <a:ext cx="2752344" cy="320040"/>
          </a:xfrm>
          <a:prstGeom prst="rect">
            <a:avLst/>
          </a:prstGeom>
          <a:noFill/>
          <a:ln/>
        </p:spPr>
        <p:txBody>
          <a:bodyPr wrap="square" lIns="0" tIns="0" rIns="0" bIns="0" rtlCol="0" anchor="ctr"/>
          <a:lstStyle/>
          <a:p>
            <a:pPr indent="0" marL="0">
              <a:buNone/>
            </a:pPr>
            <a:r>
              <a:rPr lang="en-US" sz="1100" b="1" spc="100" kern="0" dirty="0">
                <a:solidFill>
                  <a:srgbClr val="5B6472"/>
                </a:solidFill>
                <a:latin typeface="Arial" pitchFamily="34" charset="0"/>
                <a:ea typeface="Arial" pitchFamily="34" charset="-122"/>
                <a:cs typeface="Arial" pitchFamily="34" charset="-120"/>
              </a:rPr>
              <a:t>THE TRAP</a:t>
            </a:r>
            <a:endParaRPr lang="en-US" sz="1100" dirty="0"/>
          </a:p>
        </p:txBody>
      </p:sp>
      <p:sp>
        <p:nvSpPr>
          <p:cNvPr id="15" name="Text 13"/>
          <p:cNvSpPr/>
          <p:nvPr/>
        </p:nvSpPr>
        <p:spPr>
          <a:xfrm>
            <a:off x="8339328" y="3246120"/>
            <a:ext cx="2752344" cy="2514600"/>
          </a:xfrm>
          <a:prstGeom prst="rect">
            <a:avLst/>
          </a:prstGeom>
          <a:noFill/>
          <a:ln/>
        </p:spPr>
        <p:txBody>
          <a:bodyPr wrap="square" lIns="0" tIns="0" rIns="0" bIns="0" rtlCol="0" anchor="ctr"/>
          <a:lstStyle/>
          <a:p>
            <a:pPr indent="0" marL="0">
              <a:lnSpc>
                <a:spcPct val="125000"/>
              </a:lnSpc>
              <a:buNone/>
            </a:pPr>
            <a:r>
              <a:rPr lang="en-US" sz="1300" dirty="0">
                <a:solidFill>
                  <a:srgbClr val="111827"/>
                </a:solidFill>
                <a:latin typeface="Arial" pitchFamily="34" charset="0"/>
                <a:ea typeface="Arial" pitchFamily="34" charset="-122"/>
                <a:cs typeface="Arial" pitchFamily="34" charset="-120"/>
              </a:rPr>
              <a:t>Balance columns in the raw data are reset the moment fraud is detected — using them would let the model see the answer before predicting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822960" y="502920"/>
            <a:ext cx="7315200" cy="640080"/>
          </a:xfrm>
          <a:prstGeom prst="rect">
            <a:avLst/>
          </a:prstGeom>
          <a:noFill/>
          <a:ln/>
        </p:spPr>
        <p:txBody>
          <a:bodyPr wrap="square" lIns="0" tIns="0" rIns="0" bIns="0" rtlCol="0" anchor="ctr"/>
          <a:lstStyle/>
          <a:p>
            <a:pPr indent="0" marL="0">
              <a:buNone/>
            </a:pPr>
            <a:r>
              <a:rPr lang="en-US" sz="3000" b="1" dirty="0">
                <a:solidFill>
                  <a:srgbClr val="0C2451"/>
                </a:solidFill>
                <a:latin typeface="Arial" pitchFamily="34" charset="0"/>
                <a:ea typeface="Arial" pitchFamily="34" charset="-122"/>
                <a:cs typeface="Arial" pitchFamily="34" charset="-120"/>
              </a:rPr>
              <a:t>How we built it</a:t>
            </a:r>
            <a:endParaRPr lang="en-US" sz="3000" dirty="0"/>
          </a:p>
        </p:txBody>
      </p:sp>
      <p:sp>
        <p:nvSpPr>
          <p:cNvPr id="3" name="Text 1"/>
          <p:cNvSpPr/>
          <p:nvPr/>
        </p:nvSpPr>
        <p:spPr>
          <a:xfrm>
            <a:off x="822960" y="1051560"/>
            <a:ext cx="9601200" cy="457200"/>
          </a:xfrm>
          <a:prstGeom prst="rect">
            <a:avLst/>
          </a:prstGeom>
          <a:noFill/>
          <a:ln/>
        </p:spPr>
        <p:txBody>
          <a:bodyPr wrap="square" lIns="0" tIns="0" rIns="0" bIns="0" rtlCol="0" anchor="ctr"/>
          <a:lstStyle/>
          <a:p>
            <a:pPr indent="0" marL="0">
              <a:buNone/>
            </a:pPr>
            <a:r>
              <a:rPr lang="en-US" sz="1500" dirty="0">
                <a:solidFill>
                  <a:srgbClr val="5B6472"/>
                </a:solidFill>
                <a:latin typeface="Arial" pitchFamily="34" charset="0"/>
                <a:ea typeface="Arial" pitchFamily="34" charset="-122"/>
                <a:cs typeface="Arial" pitchFamily="34" charset="-120"/>
              </a:rPr>
              <a:t>Four stages, each one solving a gap the previous stage exposed</a:t>
            </a:r>
            <a:endParaRPr lang="en-US" sz="1500" dirty="0"/>
          </a:p>
        </p:txBody>
      </p:sp>
      <p:sp>
        <p:nvSpPr>
          <p:cNvPr id="4" name="Shape 2"/>
          <p:cNvSpPr/>
          <p:nvPr/>
        </p:nvSpPr>
        <p:spPr>
          <a:xfrm>
            <a:off x="822960" y="1965960"/>
            <a:ext cx="2430018" cy="4114800"/>
          </a:xfrm>
          <a:prstGeom prst="roundRect">
            <a:avLst>
              <a:gd name="adj" fmla="val 4516"/>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5" name="Shape 3"/>
          <p:cNvSpPr/>
          <p:nvPr/>
        </p:nvSpPr>
        <p:spPr>
          <a:xfrm>
            <a:off x="1097280" y="2286000"/>
            <a:ext cx="502920" cy="502920"/>
          </a:xfrm>
          <a:prstGeom prst="ellipse">
            <a:avLst/>
          </a:prstGeom>
          <a:solidFill>
            <a:srgbClr val="0C2451"/>
          </a:solidFill>
          <a:ln/>
        </p:spPr>
      </p:sp>
      <p:sp>
        <p:nvSpPr>
          <p:cNvPr id="6" name="Text 4"/>
          <p:cNvSpPr/>
          <p:nvPr/>
        </p:nvSpPr>
        <p:spPr>
          <a:xfrm>
            <a:off x="1097280" y="22860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7" name="Text 5"/>
          <p:cNvSpPr/>
          <p:nvPr/>
        </p:nvSpPr>
        <p:spPr>
          <a:xfrm>
            <a:off x="1097280" y="2971800"/>
            <a:ext cx="1881378" cy="548640"/>
          </a:xfrm>
          <a:prstGeom prst="rect">
            <a:avLst/>
          </a:prstGeom>
          <a:noFill/>
          <a:ln/>
        </p:spPr>
        <p:txBody>
          <a:bodyPr wrap="square" lIns="0" tIns="0" rIns="0" bIns="0" rtlCol="0" anchor="ctr"/>
          <a:lstStyle/>
          <a:p>
            <a:pPr indent="0" marL="0">
              <a:buNone/>
            </a:pPr>
            <a:r>
              <a:rPr lang="en-US" sz="1500" b="1" dirty="0">
                <a:solidFill>
                  <a:srgbClr val="0C2451"/>
                </a:solidFill>
                <a:latin typeface="Arial" pitchFamily="34" charset="0"/>
                <a:ea typeface="Arial" pitchFamily="34" charset="-122"/>
                <a:cs typeface="Arial" pitchFamily="34" charset="-120"/>
              </a:rPr>
              <a:t>Data &amp; leakage</a:t>
            </a:r>
            <a:endParaRPr lang="en-US" sz="1500" dirty="0"/>
          </a:p>
        </p:txBody>
      </p:sp>
      <p:sp>
        <p:nvSpPr>
          <p:cNvPr id="8" name="Text 6"/>
          <p:cNvSpPr/>
          <p:nvPr/>
        </p:nvSpPr>
        <p:spPr>
          <a:xfrm>
            <a:off x="1097280" y="3566160"/>
            <a:ext cx="1881378" cy="2377440"/>
          </a:xfrm>
          <a:prstGeom prst="rect">
            <a:avLst/>
          </a:prstGeom>
          <a:noFill/>
          <a:ln/>
        </p:spPr>
        <p:txBody>
          <a:bodyPr wrap="square" lIns="0" tIns="0" rIns="0" bIns="0" rtlCol="0" anchor="ctr"/>
          <a:lstStyle/>
          <a:p>
            <a:pPr indent="0" marL="0">
              <a:lnSpc>
                <a:spcPct val="125000"/>
              </a:lnSpc>
              <a:buNone/>
            </a:pPr>
            <a:r>
              <a:rPr lang="en-US" sz="1150" dirty="0">
                <a:solidFill>
                  <a:srgbClr val="111827"/>
                </a:solidFill>
                <a:latin typeface="Arial" pitchFamily="34" charset="0"/>
                <a:ea typeface="Arial" pitchFamily="34" charset="-122"/>
                <a:cs typeface="Arial" pitchFamily="34" charset="-120"/>
              </a:rPr>
              <a:t>Filtered to TRANSFER/CASH_OUT only — where 100% of fraud occurs. Dropped post-fraud balance columns and the business's own naive flagging rule.</a:t>
            </a:r>
            <a:endParaRPr lang="en-US" sz="1150" dirty="0"/>
          </a:p>
        </p:txBody>
      </p:sp>
      <p:sp>
        <p:nvSpPr>
          <p:cNvPr id="9" name="Shape 7"/>
          <p:cNvSpPr/>
          <p:nvPr/>
        </p:nvSpPr>
        <p:spPr>
          <a:xfrm>
            <a:off x="3527298" y="1965960"/>
            <a:ext cx="2430018" cy="4114800"/>
          </a:xfrm>
          <a:prstGeom prst="roundRect">
            <a:avLst>
              <a:gd name="adj" fmla="val 4516"/>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10" name="Shape 8"/>
          <p:cNvSpPr/>
          <p:nvPr/>
        </p:nvSpPr>
        <p:spPr>
          <a:xfrm>
            <a:off x="3801618" y="2286000"/>
            <a:ext cx="502920" cy="502920"/>
          </a:xfrm>
          <a:prstGeom prst="ellipse">
            <a:avLst/>
          </a:prstGeom>
          <a:solidFill>
            <a:srgbClr val="0C2451"/>
          </a:solidFill>
          <a:ln/>
        </p:spPr>
      </p:sp>
      <p:sp>
        <p:nvSpPr>
          <p:cNvPr id="11" name="Text 9"/>
          <p:cNvSpPr/>
          <p:nvPr/>
        </p:nvSpPr>
        <p:spPr>
          <a:xfrm>
            <a:off x="3801618" y="22860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12" name="Text 10"/>
          <p:cNvSpPr/>
          <p:nvPr/>
        </p:nvSpPr>
        <p:spPr>
          <a:xfrm>
            <a:off x="3801618" y="2971800"/>
            <a:ext cx="1881378" cy="548640"/>
          </a:xfrm>
          <a:prstGeom prst="rect">
            <a:avLst/>
          </a:prstGeom>
          <a:noFill/>
          <a:ln/>
        </p:spPr>
        <p:txBody>
          <a:bodyPr wrap="square" lIns="0" tIns="0" rIns="0" bIns="0" rtlCol="0" anchor="ctr"/>
          <a:lstStyle/>
          <a:p>
            <a:pPr indent="0" marL="0">
              <a:buNone/>
            </a:pPr>
            <a:r>
              <a:rPr lang="en-US" sz="1500" b="1" dirty="0">
                <a:solidFill>
                  <a:srgbClr val="0C2451"/>
                </a:solidFill>
                <a:latin typeface="Arial" pitchFamily="34" charset="0"/>
                <a:ea typeface="Arial" pitchFamily="34" charset="-122"/>
                <a:cs typeface="Arial" pitchFamily="34" charset="-120"/>
              </a:rPr>
              <a:t>Feature engineering</a:t>
            </a:r>
            <a:endParaRPr lang="en-US" sz="1500" dirty="0"/>
          </a:p>
        </p:txBody>
      </p:sp>
      <p:sp>
        <p:nvSpPr>
          <p:cNvPr id="13" name="Text 11"/>
          <p:cNvSpPr/>
          <p:nvPr/>
        </p:nvSpPr>
        <p:spPr>
          <a:xfrm>
            <a:off x="3801618" y="3566160"/>
            <a:ext cx="1881378" cy="2377440"/>
          </a:xfrm>
          <a:prstGeom prst="rect">
            <a:avLst/>
          </a:prstGeom>
          <a:noFill/>
          <a:ln/>
        </p:spPr>
        <p:txBody>
          <a:bodyPr wrap="square" lIns="0" tIns="0" rIns="0" bIns="0" rtlCol="0" anchor="ctr"/>
          <a:lstStyle/>
          <a:p>
            <a:pPr indent="0" marL="0">
              <a:lnSpc>
                <a:spcPct val="125000"/>
              </a:lnSpc>
              <a:buNone/>
            </a:pPr>
            <a:r>
              <a:rPr lang="en-US" sz="1150" dirty="0">
                <a:solidFill>
                  <a:srgbClr val="111827"/>
                </a:solidFill>
                <a:latin typeface="Arial" pitchFamily="34" charset="0"/>
                <a:ea typeface="Arial" pitchFamily="34" charset="-122"/>
                <a:cs typeface="Arial" pitchFamily="34" charset="-120"/>
              </a:rPr>
              <a:t>14 engineered features from customer history, recipient behavior, and timing — computed strictly backward in time to avoid leaking the future.</a:t>
            </a:r>
            <a:endParaRPr lang="en-US" sz="1150" dirty="0"/>
          </a:p>
        </p:txBody>
      </p:sp>
      <p:sp>
        <p:nvSpPr>
          <p:cNvPr id="14" name="Shape 12"/>
          <p:cNvSpPr/>
          <p:nvPr/>
        </p:nvSpPr>
        <p:spPr>
          <a:xfrm>
            <a:off x="6231636" y="1965960"/>
            <a:ext cx="2430018" cy="4114800"/>
          </a:xfrm>
          <a:prstGeom prst="roundRect">
            <a:avLst>
              <a:gd name="adj" fmla="val 4516"/>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15" name="Shape 13"/>
          <p:cNvSpPr/>
          <p:nvPr/>
        </p:nvSpPr>
        <p:spPr>
          <a:xfrm>
            <a:off x="6505956" y="2286000"/>
            <a:ext cx="502920" cy="502920"/>
          </a:xfrm>
          <a:prstGeom prst="ellipse">
            <a:avLst/>
          </a:prstGeom>
          <a:solidFill>
            <a:srgbClr val="0C2451"/>
          </a:solidFill>
          <a:ln/>
        </p:spPr>
      </p:sp>
      <p:sp>
        <p:nvSpPr>
          <p:cNvPr id="16" name="Text 14"/>
          <p:cNvSpPr/>
          <p:nvPr/>
        </p:nvSpPr>
        <p:spPr>
          <a:xfrm>
            <a:off x="6505956" y="22860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03</a:t>
            </a:r>
            <a:endParaRPr lang="en-US" sz="1400" dirty="0"/>
          </a:p>
        </p:txBody>
      </p:sp>
      <p:sp>
        <p:nvSpPr>
          <p:cNvPr id="17" name="Text 15"/>
          <p:cNvSpPr/>
          <p:nvPr/>
        </p:nvSpPr>
        <p:spPr>
          <a:xfrm>
            <a:off x="6505956" y="2971800"/>
            <a:ext cx="1881378" cy="548640"/>
          </a:xfrm>
          <a:prstGeom prst="rect">
            <a:avLst/>
          </a:prstGeom>
          <a:noFill/>
          <a:ln/>
        </p:spPr>
        <p:txBody>
          <a:bodyPr wrap="square" lIns="0" tIns="0" rIns="0" bIns="0" rtlCol="0" anchor="ctr"/>
          <a:lstStyle/>
          <a:p>
            <a:pPr indent="0" marL="0">
              <a:buNone/>
            </a:pPr>
            <a:r>
              <a:rPr lang="en-US" sz="1500" b="1" dirty="0">
                <a:solidFill>
                  <a:srgbClr val="0C2451"/>
                </a:solidFill>
                <a:latin typeface="Arial" pitchFamily="34" charset="0"/>
                <a:ea typeface="Arial" pitchFamily="34" charset="-122"/>
                <a:cs typeface="Arial" pitchFamily="34" charset="-120"/>
              </a:rPr>
              <a:t>Baseline → XGBoost</a:t>
            </a:r>
            <a:endParaRPr lang="en-US" sz="1500" dirty="0"/>
          </a:p>
        </p:txBody>
      </p:sp>
      <p:sp>
        <p:nvSpPr>
          <p:cNvPr id="18" name="Text 16"/>
          <p:cNvSpPr/>
          <p:nvPr/>
        </p:nvSpPr>
        <p:spPr>
          <a:xfrm>
            <a:off x="6505956" y="3566160"/>
            <a:ext cx="1881378" cy="2377440"/>
          </a:xfrm>
          <a:prstGeom prst="rect">
            <a:avLst/>
          </a:prstGeom>
          <a:noFill/>
          <a:ln/>
        </p:spPr>
        <p:txBody>
          <a:bodyPr wrap="square" lIns="0" tIns="0" rIns="0" bIns="0" rtlCol="0" anchor="ctr"/>
          <a:lstStyle/>
          <a:p>
            <a:pPr indent="0" marL="0">
              <a:lnSpc>
                <a:spcPct val="125000"/>
              </a:lnSpc>
              <a:buNone/>
            </a:pPr>
            <a:r>
              <a:rPr lang="en-US" sz="1150" dirty="0">
                <a:solidFill>
                  <a:srgbClr val="111827"/>
                </a:solidFill>
                <a:latin typeface="Arial" pitchFamily="34" charset="0"/>
                <a:ea typeface="Arial" pitchFamily="34" charset="-122"/>
                <a:cs typeface="Arial" pitchFamily="34" charset="-120"/>
              </a:rPr>
              <a:t>Logistic regression established an honest floor. XGBoost captured feature interactions the linear model structurally couldn't.</a:t>
            </a:r>
            <a:endParaRPr lang="en-US" sz="1150" dirty="0"/>
          </a:p>
        </p:txBody>
      </p:sp>
      <p:sp>
        <p:nvSpPr>
          <p:cNvPr id="19" name="Shape 17"/>
          <p:cNvSpPr/>
          <p:nvPr/>
        </p:nvSpPr>
        <p:spPr>
          <a:xfrm>
            <a:off x="8935974" y="1965960"/>
            <a:ext cx="2430018" cy="4114800"/>
          </a:xfrm>
          <a:prstGeom prst="roundRect">
            <a:avLst>
              <a:gd name="adj" fmla="val 4516"/>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20" name="Shape 18"/>
          <p:cNvSpPr/>
          <p:nvPr/>
        </p:nvSpPr>
        <p:spPr>
          <a:xfrm>
            <a:off x="9210294" y="2286000"/>
            <a:ext cx="502920" cy="502920"/>
          </a:xfrm>
          <a:prstGeom prst="ellipse">
            <a:avLst/>
          </a:prstGeom>
          <a:solidFill>
            <a:srgbClr val="0C2451"/>
          </a:solidFill>
          <a:ln/>
        </p:spPr>
      </p:sp>
      <p:sp>
        <p:nvSpPr>
          <p:cNvPr id="21" name="Text 19"/>
          <p:cNvSpPr/>
          <p:nvPr/>
        </p:nvSpPr>
        <p:spPr>
          <a:xfrm>
            <a:off x="9210294" y="22860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04</a:t>
            </a:r>
            <a:endParaRPr lang="en-US" sz="1400" dirty="0"/>
          </a:p>
        </p:txBody>
      </p:sp>
      <p:sp>
        <p:nvSpPr>
          <p:cNvPr id="22" name="Text 20"/>
          <p:cNvSpPr/>
          <p:nvPr/>
        </p:nvSpPr>
        <p:spPr>
          <a:xfrm>
            <a:off x="9210294" y="2971800"/>
            <a:ext cx="1881378" cy="548640"/>
          </a:xfrm>
          <a:prstGeom prst="rect">
            <a:avLst/>
          </a:prstGeom>
          <a:noFill/>
          <a:ln/>
        </p:spPr>
        <p:txBody>
          <a:bodyPr wrap="square" lIns="0" tIns="0" rIns="0" bIns="0" rtlCol="0" anchor="ctr"/>
          <a:lstStyle/>
          <a:p>
            <a:pPr indent="0" marL="0">
              <a:buNone/>
            </a:pPr>
            <a:r>
              <a:rPr lang="en-US" sz="1500" b="1" dirty="0">
                <a:solidFill>
                  <a:srgbClr val="0C2451"/>
                </a:solidFill>
                <a:latin typeface="Arial" pitchFamily="34" charset="0"/>
                <a:ea typeface="Arial" pitchFamily="34" charset="-122"/>
                <a:cs typeface="Arial" pitchFamily="34" charset="-120"/>
              </a:rPr>
              <a:t>Explainability</a:t>
            </a:r>
            <a:endParaRPr lang="en-US" sz="1500" dirty="0"/>
          </a:p>
        </p:txBody>
      </p:sp>
      <p:sp>
        <p:nvSpPr>
          <p:cNvPr id="23" name="Text 21"/>
          <p:cNvSpPr/>
          <p:nvPr/>
        </p:nvSpPr>
        <p:spPr>
          <a:xfrm>
            <a:off x="9210294" y="3566160"/>
            <a:ext cx="1881378" cy="2377440"/>
          </a:xfrm>
          <a:prstGeom prst="rect">
            <a:avLst/>
          </a:prstGeom>
          <a:noFill/>
          <a:ln/>
        </p:spPr>
        <p:txBody>
          <a:bodyPr wrap="square" lIns="0" tIns="0" rIns="0" bIns="0" rtlCol="0" anchor="ctr"/>
          <a:lstStyle/>
          <a:p>
            <a:pPr indent="0" marL="0">
              <a:lnSpc>
                <a:spcPct val="125000"/>
              </a:lnSpc>
              <a:buNone/>
            </a:pPr>
            <a:r>
              <a:rPr lang="en-US" sz="1150" dirty="0">
                <a:solidFill>
                  <a:srgbClr val="111827"/>
                </a:solidFill>
                <a:latin typeface="Arial" pitchFamily="34" charset="0"/>
                <a:ea typeface="Arial" pitchFamily="34" charset="-122"/>
                <a:cs typeface="Arial" pitchFamily="34" charset="-120"/>
              </a:rPr>
              <a:t>SHAP gives a per-transaction breakdown of why a score was given — not just which features matter on average.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822960" y="502920"/>
            <a:ext cx="7315200" cy="640080"/>
          </a:xfrm>
          <a:prstGeom prst="rect">
            <a:avLst/>
          </a:prstGeom>
          <a:noFill/>
          <a:ln/>
        </p:spPr>
        <p:txBody>
          <a:bodyPr wrap="square" lIns="0" tIns="0" rIns="0" bIns="0" rtlCol="0" anchor="ctr"/>
          <a:lstStyle/>
          <a:p>
            <a:pPr indent="0" marL="0">
              <a:buNone/>
            </a:pPr>
            <a:r>
              <a:rPr lang="en-US" sz="3000" b="1" dirty="0">
                <a:solidFill>
                  <a:srgbClr val="0C2451"/>
                </a:solidFill>
                <a:latin typeface="Arial" pitchFamily="34" charset="0"/>
                <a:ea typeface="Arial" pitchFamily="34" charset="-122"/>
                <a:cs typeface="Arial" pitchFamily="34" charset="-120"/>
              </a:rPr>
              <a:t>Results</a:t>
            </a:r>
            <a:endParaRPr lang="en-US" sz="3000" dirty="0"/>
          </a:p>
        </p:txBody>
      </p:sp>
      <p:sp>
        <p:nvSpPr>
          <p:cNvPr id="3" name="Text 1"/>
          <p:cNvSpPr/>
          <p:nvPr/>
        </p:nvSpPr>
        <p:spPr>
          <a:xfrm>
            <a:off x="822960" y="1051560"/>
            <a:ext cx="9601200" cy="457200"/>
          </a:xfrm>
          <a:prstGeom prst="rect">
            <a:avLst/>
          </a:prstGeom>
          <a:noFill/>
          <a:ln/>
        </p:spPr>
        <p:txBody>
          <a:bodyPr wrap="square" lIns="0" tIns="0" rIns="0" bIns="0" rtlCol="0" anchor="ctr"/>
          <a:lstStyle/>
          <a:p>
            <a:pPr indent="0" marL="0">
              <a:buNone/>
            </a:pPr>
            <a:r>
              <a:rPr lang="en-US" sz="1500" dirty="0">
                <a:solidFill>
                  <a:srgbClr val="5B6472"/>
                </a:solidFill>
                <a:latin typeface="Arial" pitchFamily="34" charset="0"/>
                <a:ea typeface="Arial" pitchFamily="34" charset="-122"/>
                <a:cs typeface="Arial" pitchFamily="34" charset="-120"/>
              </a:rPr>
              <a:t>PR-AUC improved 28x from raw baseline to the final model</a:t>
            </a:r>
            <a:endParaRPr lang="en-US" sz="1500" dirty="0"/>
          </a:p>
        </p:txBody>
      </p:sp>
      <p:graphicFrame>
        <p:nvGraphicFramePr>
          <p:cNvPr id="4" name="Chart 0" descr=""/>
          <p:cNvGraphicFramePr/>
          <p:nvPr/>
        </p:nvGraphicFramePr>
        <p:xfrm>
          <a:off x="822960" y="1965960"/>
          <a:ext cx="585216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95160" y="1965960"/>
            <a:ext cx="4389120" cy="1234440"/>
          </a:xfrm>
          <a:prstGeom prst="roundRect">
            <a:avLst>
              <a:gd name="adj" fmla="val 8889"/>
            </a:avLst>
          </a:prstGeom>
          <a:solidFill>
            <a:srgbClr val="0C2451"/>
          </a:solidFill>
          <a:ln/>
        </p:spPr>
      </p:sp>
      <p:sp>
        <p:nvSpPr>
          <p:cNvPr id="6" name="Text 3"/>
          <p:cNvSpPr/>
          <p:nvPr/>
        </p:nvSpPr>
        <p:spPr>
          <a:xfrm>
            <a:off x="7269480" y="2084832"/>
            <a:ext cx="384048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0.6208</a:t>
            </a:r>
            <a:endParaRPr lang="en-US" sz="2600" dirty="0"/>
          </a:p>
        </p:txBody>
      </p:sp>
      <p:sp>
        <p:nvSpPr>
          <p:cNvPr id="7" name="Text 4"/>
          <p:cNvSpPr/>
          <p:nvPr/>
        </p:nvSpPr>
        <p:spPr>
          <a:xfrm>
            <a:off x="7269480" y="2606040"/>
            <a:ext cx="3840480" cy="365760"/>
          </a:xfrm>
          <a:prstGeom prst="rect">
            <a:avLst/>
          </a:prstGeom>
          <a:noFill/>
          <a:ln/>
        </p:spPr>
        <p:txBody>
          <a:bodyPr wrap="square" lIns="0" tIns="0" rIns="0" bIns="0" rtlCol="0" anchor="ctr"/>
          <a:lstStyle/>
          <a:p>
            <a:pPr indent="0" marL="0">
              <a:buNone/>
            </a:pPr>
            <a:r>
              <a:rPr lang="en-US" sz="1200" dirty="0">
                <a:solidFill>
                  <a:srgbClr val="B8C7E8"/>
                </a:solidFill>
                <a:latin typeface="Arial" pitchFamily="34" charset="0"/>
                <a:ea typeface="Arial" pitchFamily="34" charset="-122"/>
                <a:cs typeface="Arial" pitchFamily="34" charset="-120"/>
              </a:rPr>
              <a:t>Final PR-AUC (XGBoost)</a:t>
            </a:r>
            <a:endParaRPr lang="en-US" sz="1200" dirty="0"/>
          </a:p>
        </p:txBody>
      </p:sp>
      <p:sp>
        <p:nvSpPr>
          <p:cNvPr id="8" name="Shape 5"/>
          <p:cNvSpPr/>
          <p:nvPr/>
        </p:nvSpPr>
        <p:spPr>
          <a:xfrm>
            <a:off x="6995160" y="3337560"/>
            <a:ext cx="4389120" cy="1234440"/>
          </a:xfrm>
          <a:prstGeom prst="roundRect">
            <a:avLst>
              <a:gd name="adj" fmla="val 8889"/>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9" name="Text 6"/>
          <p:cNvSpPr/>
          <p:nvPr/>
        </p:nvSpPr>
        <p:spPr>
          <a:xfrm>
            <a:off x="7269480" y="3456432"/>
            <a:ext cx="3840480" cy="548640"/>
          </a:xfrm>
          <a:prstGeom prst="rect">
            <a:avLst/>
          </a:prstGeom>
          <a:noFill/>
          <a:ln/>
        </p:spPr>
        <p:txBody>
          <a:bodyPr wrap="square" lIns="0" tIns="0" rIns="0" bIns="0" rtlCol="0" anchor="ctr"/>
          <a:lstStyle/>
          <a:p>
            <a:pPr indent="0" marL="0">
              <a:buNone/>
            </a:pPr>
            <a:r>
              <a:rPr lang="en-US" sz="1800" b="1" dirty="0">
                <a:solidFill>
                  <a:srgbClr val="0C2451"/>
                </a:solidFill>
                <a:latin typeface="Arial" pitchFamily="34" charset="0"/>
                <a:ea typeface="Arial" pitchFamily="34" charset="-122"/>
                <a:cs typeface="Arial" pitchFamily="34" charset="-120"/>
              </a:rPr>
              <a:t>70.1% recall  ·  28.9% precision</a:t>
            </a:r>
            <a:endParaRPr lang="en-US" sz="1800" dirty="0"/>
          </a:p>
        </p:txBody>
      </p:sp>
      <p:sp>
        <p:nvSpPr>
          <p:cNvPr id="10" name="Text 7"/>
          <p:cNvSpPr/>
          <p:nvPr/>
        </p:nvSpPr>
        <p:spPr>
          <a:xfrm>
            <a:off x="7269480" y="3977640"/>
            <a:ext cx="3840480" cy="365760"/>
          </a:xfrm>
          <a:prstGeom prst="rect">
            <a:avLst/>
          </a:prstGeom>
          <a:noFill/>
          <a:ln/>
        </p:spPr>
        <p:txBody>
          <a:bodyPr wrap="square" lIns="0" tIns="0" rIns="0" bIns="0" rtlCol="0" anchor="ctr"/>
          <a:lstStyle/>
          <a:p>
            <a:pPr indent="0" marL="0">
              <a:buNone/>
            </a:pPr>
            <a:r>
              <a:rPr lang="en-US" sz="1200" dirty="0">
                <a:solidFill>
                  <a:srgbClr val="5B6472"/>
                </a:solidFill>
                <a:latin typeface="Arial" pitchFamily="34" charset="0"/>
                <a:ea typeface="Arial" pitchFamily="34" charset="-122"/>
                <a:cs typeface="Arial" pitchFamily="34" charset="-120"/>
              </a:rPr>
              <a:t>At threshold 0.9 — a deliberate, stated tradeoff</a:t>
            </a:r>
            <a:endParaRPr lang="en-US" sz="1200" dirty="0"/>
          </a:p>
        </p:txBody>
      </p:sp>
      <p:sp>
        <p:nvSpPr>
          <p:cNvPr id="11" name="Shape 8"/>
          <p:cNvSpPr/>
          <p:nvPr/>
        </p:nvSpPr>
        <p:spPr>
          <a:xfrm>
            <a:off x="6995160" y="4709160"/>
            <a:ext cx="4389120" cy="1371600"/>
          </a:xfrm>
          <a:prstGeom prst="roundRect">
            <a:avLst>
              <a:gd name="adj" fmla="val 8000"/>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12" name="Text 9"/>
          <p:cNvSpPr/>
          <p:nvPr/>
        </p:nvSpPr>
        <p:spPr>
          <a:xfrm>
            <a:off x="7269480" y="4846320"/>
            <a:ext cx="3840480" cy="457200"/>
          </a:xfrm>
          <a:prstGeom prst="rect">
            <a:avLst/>
          </a:prstGeom>
          <a:noFill/>
          <a:ln/>
        </p:spPr>
        <p:txBody>
          <a:bodyPr wrap="square" lIns="0" tIns="0" rIns="0" bIns="0" rtlCol="0" anchor="ctr"/>
          <a:lstStyle/>
          <a:p>
            <a:pPr indent="0" marL="0">
              <a:buNone/>
            </a:pPr>
            <a:r>
              <a:rPr lang="en-US" sz="1300" b="1" dirty="0">
                <a:solidFill>
                  <a:srgbClr val="0C2451"/>
                </a:solidFill>
                <a:latin typeface="Arial" pitchFamily="34" charset="0"/>
                <a:ea typeface="Arial" pitchFamily="34" charset="-122"/>
                <a:cs typeface="Arial" pitchFamily="34" charset="-120"/>
              </a:rPr>
              <a:t>Precision vs. recall is chosen, not accidental</a:t>
            </a:r>
            <a:endParaRPr lang="en-US" sz="1300" dirty="0"/>
          </a:p>
        </p:txBody>
      </p:sp>
      <p:sp>
        <p:nvSpPr>
          <p:cNvPr id="13" name="Text 10"/>
          <p:cNvSpPr/>
          <p:nvPr/>
        </p:nvSpPr>
        <p:spPr>
          <a:xfrm>
            <a:off x="7269480" y="5257800"/>
            <a:ext cx="3840480" cy="731520"/>
          </a:xfrm>
          <a:prstGeom prst="rect">
            <a:avLst/>
          </a:prstGeom>
          <a:noFill/>
          <a:ln/>
        </p:spPr>
        <p:txBody>
          <a:bodyPr wrap="square" lIns="0" tIns="0" rIns="0" bIns="0" rtlCol="0" anchor="ctr"/>
          <a:lstStyle/>
          <a:p>
            <a:pPr indent="0" marL="0">
              <a:lnSpc>
                <a:spcPct val="120000"/>
              </a:lnSpc>
              <a:buNone/>
            </a:pPr>
            <a:r>
              <a:rPr lang="en-US" sz="1150" dirty="0">
                <a:solidFill>
                  <a:srgbClr val="111827"/>
                </a:solidFill>
                <a:latin typeface="Arial" pitchFamily="34" charset="0"/>
                <a:ea typeface="Arial" pitchFamily="34" charset="-122"/>
                <a:cs typeface="Arial" pitchFamily="34" charset="-120"/>
              </a:rPr>
              <a:t>The dashboard's threshold slider recomputes both live — the tradeoff is demonstrated, not just claimed.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822960" y="502920"/>
            <a:ext cx="9144000" cy="640080"/>
          </a:xfrm>
          <a:prstGeom prst="rect">
            <a:avLst/>
          </a:prstGeom>
          <a:noFill/>
          <a:ln/>
        </p:spPr>
        <p:txBody>
          <a:bodyPr wrap="square" lIns="0" tIns="0" rIns="0" bIns="0" rtlCol="0" anchor="ctr"/>
          <a:lstStyle/>
          <a:p>
            <a:pPr indent="0" marL="0">
              <a:buNone/>
            </a:pPr>
            <a:r>
              <a:rPr lang="en-US" sz="3000" b="1" dirty="0">
                <a:solidFill>
                  <a:srgbClr val="0C2451"/>
                </a:solidFill>
                <a:latin typeface="Arial" pitchFamily="34" charset="0"/>
                <a:ea typeface="Arial" pitchFamily="34" charset="-122"/>
                <a:cs typeface="Arial" pitchFamily="34" charset="-120"/>
              </a:rPr>
              <a:t>Live, explainable, end-to-end</a:t>
            </a:r>
            <a:endParaRPr lang="en-US" sz="3000" dirty="0"/>
          </a:p>
        </p:txBody>
      </p:sp>
      <p:sp>
        <p:nvSpPr>
          <p:cNvPr id="3" name="Text 1"/>
          <p:cNvSpPr/>
          <p:nvPr/>
        </p:nvSpPr>
        <p:spPr>
          <a:xfrm>
            <a:off x="822960" y="1051560"/>
            <a:ext cx="9601200" cy="457200"/>
          </a:xfrm>
          <a:prstGeom prst="rect">
            <a:avLst/>
          </a:prstGeom>
          <a:noFill/>
          <a:ln/>
        </p:spPr>
        <p:txBody>
          <a:bodyPr wrap="square" lIns="0" tIns="0" rIns="0" bIns="0" rtlCol="0" anchor="ctr"/>
          <a:lstStyle/>
          <a:p>
            <a:pPr indent="0" marL="0">
              <a:buNone/>
            </a:pPr>
            <a:r>
              <a:rPr lang="en-US" sz="1500" dirty="0">
                <a:solidFill>
                  <a:srgbClr val="5B6472"/>
                </a:solidFill>
                <a:latin typeface="Arial" pitchFamily="34" charset="0"/>
                <a:ea typeface="Arial" pitchFamily="34" charset="-122"/>
                <a:cs typeface="Arial" pitchFamily="34" charset="-120"/>
              </a:rPr>
              <a:t>Not just a notebook — a working system a judge can operate</a:t>
            </a:r>
            <a:endParaRPr lang="en-US" sz="1500" dirty="0"/>
          </a:p>
        </p:txBody>
      </p:sp>
      <p:sp>
        <p:nvSpPr>
          <p:cNvPr id="4" name="Shape 2"/>
          <p:cNvSpPr/>
          <p:nvPr/>
        </p:nvSpPr>
        <p:spPr>
          <a:xfrm>
            <a:off x="822960" y="1965960"/>
            <a:ext cx="6675120" cy="658368"/>
          </a:xfrm>
          <a:prstGeom prst="roundRect">
            <a:avLst>
              <a:gd name="adj" fmla="val 13889"/>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5" name="Shape 3"/>
          <p:cNvSpPr/>
          <p:nvPr/>
        </p:nvSpPr>
        <p:spPr>
          <a:xfrm>
            <a:off x="822960" y="1965960"/>
            <a:ext cx="109728" cy="658368"/>
          </a:xfrm>
          <a:prstGeom prst="roundRect">
            <a:avLst/>
          </a:prstGeom>
          <a:solidFill>
            <a:srgbClr val="6B7280"/>
          </a:solidFill>
          <a:ln/>
        </p:spPr>
      </p:sp>
      <p:sp>
        <p:nvSpPr>
          <p:cNvPr id="6" name="Text 4"/>
          <p:cNvSpPr/>
          <p:nvPr/>
        </p:nvSpPr>
        <p:spPr>
          <a:xfrm>
            <a:off x="1143000" y="2020824"/>
            <a:ext cx="6126480" cy="320040"/>
          </a:xfrm>
          <a:prstGeom prst="rect">
            <a:avLst/>
          </a:prstGeom>
          <a:noFill/>
          <a:ln/>
        </p:spPr>
        <p:txBody>
          <a:bodyPr wrap="square" lIns="0" tIns="0" rIns="0" bIns="0" rtlCol="0" anchor="ctr"/>
          <a:lstStyle/>
          <a:p>
            <a:pPr indent="0" marL="0">
              <a:buNone/>
            </a:pPr>
            <a:r>
              <a:rPr lang="en-US" sz="1400" b="1" dirty="0">
                <a:solidFill>
                  <a:srgbClr val="0C2451"/>
                </a:solidFill>
                <a:latin typeface="Arial" pitchFamily="34" charset="0"/>
                <a:ea typeface="Arial" pitchFamily="34" charset="-122"/>
                <a:cs typeface="Arial" pitchFamily="34" charset="-120"/>
              </a:rPr>
              <a:t>PaySim1 dataset</a:t>
            </a:r>
            <a:endParaRPr lang="en-US" sz="1400" dirty="0"/>
          </a:p>
        </p:txBody>
      </p:sp>
      <p:sp>
        <p:nvSpPr>
          <p:cNvPr id="7" name="Text 5"/>
          <p:cNvSpPr/>
          <p:nvPr/>
        </p:nvSpPr>
        <p:spPr>
          <a:xfrm>
            <a:off x="1143000" y="2313432"/>
            <a:ext cx="6126480" cy="274320"/>
          </a:xfrm>
          <a:prstGeom prst="rect">
            <a:avLst/>
          </a:prstGeom>
          <a:noFill/>
          <a:ln/>
        </p:spPr>
        <p:txBody>
          <a:bodyPr wrap="square" lIns="0" tIns="0" rIns="0" bIns="0" rtlCol="0" anchor="ctr"/>
          <a:lstStyle/>
          <a:p>
            <a:pPr indent="0" marL="0">
              <a:buNone/>
            </a:pPr>
            <a:r>
              <a:rPr lang="en-US" sz="1100" dirty="0">
                <a:solidFill>
                  <a:srgbClr val="5B6472"/>
                </a:solidFill>
                <a:latin typeface="Arial" pitchFamily="34" charset="0"/>
                <a:ea typeface="Arial" pitchFamily="34" charset="-122"/>
                <a:cs typeface="Arial" pitchFamily="34" charset="-120"/>
              </a:rPr>
              <a:t>2.77M filtered transactions</a:t>
            </a:r>
            <a:endParaRPr lang="en-US" sz="1100" dirty="0"/>
          </a:p>
        </p:txBody>
      </p:sp>
      <p:sp>
        <p:nvSpPr>
          <p:cNvPr id="8" name="Shape 6"/>
          <p:cNvSpPr/>
          <p:nvPr/>
        </p:nvSpPr>
        <p:spPr>
          <a:xfrm>
            <a:off x="4160520" y="2624328"/>
            <a:ext cx="0" cy="164592"/>
          </a:xfrm>
          <a:prstGeom prst="line">
            <a:avLst/>
          </a:prstGeom>
          <a:noFill/>
          <a:ln w="19050">
            <a:solidFill>
              <a:srgbClr val="B8C4D6"/>
            </a:solidFill>
            <a:prstDash val="solid"/>
            <a:tailEnd type="triangle"/>
          </a:ln>
        </p:spPr>
      </p:sp>
      <p:sp>
        <p:nvSpPr>
          <p:cNvPr id="9" name="Shape 7"/>
          <p:cNvSpPr/>
          <p:nvPr/>
        </p:nvSpPr>
        <p:spPr>
          <a:xfrm>
            <a:off x="822960" y="2788920"/>
            <a:ext cx="6675120" cy="658368"/>
          </a:xfrm>
          <a:prstGeom prst="roundRect">
            <a:avLst>
              <a:gd name="adj" fmla="val 13889"/>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10" name="Shape 8"/>
          <p:cNvSpPr/>
          <p:nvPr/>
        </p:nvSpPr>
        <p:spPr>
          <a:xfrm>
            <a:off x="822960" y="2788920"/>
            <a:ext cx="109728" cy="658368"/>
          </a:xfrm>
          <a:prstGeom prst="roundRect">
            <a:avLst/>
          </a:prstGeom>
          <a:solidFill>
            <a:srgbClr val="1D9E75"/>
          </a:solidFill>
          <a:ln/>
        </p:spPr>
      </p:sp>
      <p:sp>
        <p:nvSpPr>
          <p:cNvPr id="11" name="Text 9"/>
          <p:cNvSpPr/>
          <p:nvPr/>
        </p:nvSpPr>
        <p:spPr>
          <a:xfrm>
            <a:off x="1143000" y="2843784"/>
            <a:ext cx="6126480" cy="320040"/>
          </a:xfrm>
          <a:prstGeom prst="rect">
            <a:avLst/>
          </a:prstGeom>
          <a:noFill/>
          <a:ln/>
        </p:spPr>
        <p:txBody>
          <a:bodyPr wrap="square" lIns="0" tIns="0" rIns="0" bIns="0" rtlCol="0" anchor="ctr"/>
          <a:lstStyle/>
          <a:p>
            <a:pPr indent="0" marL="0">
              <a:buNone/>
            </a:pPr>
            <a:r>
              <a:rPr lang="en-US" sz="1400" b="1" dirty="0">
                <a:solidFill>
                  <a:srgbClr val="0C2451"/>
                </a:solidFill>
                <a:latin typeface="Arial" pitchFamily="34" charset="0"/>
                <a:ea typeface="Arial" pitchFamily="34" charset="-122"/>
                <a:cs typeface="Arial" pitchFamily="34" charset="-120"/>
              </a:rPr>
              <a:t>Feature engineering</a:t>
            </a:r>
            <a:endParaRPr lang="en-US" sz="1400" dirty="0"/>
          </a:p>
        </p:txBody>
      </p:sp>
      <p:sp>
        <p:nvSpPr>
          <p:cNvPr id="12" name="Text 10"/>
          <p:cNvSpPr/>
          <p:nvPr/>
        </p:nvSpPr>
        <p:spPr>
          <a:xfrm>
            <a:off x="1143000" y="3136392"/>
            <a:ext cx="6126480" cy="274320"/>
          </a:xfrm>
          <a:prstGeom prst="rect">
            <a:avLst/>
          </a:prstGeom>
          <a:noFill/>
          <a:ln/>
        </p:spPr>
        <p:txBody>
          <a:bodyPr wrap="square" lIns="0" tIns="0" rIns="0" bIns="0" rtlCol="0" anchor="ctr"/>
          <a:lstStyle/>
          <a:p>
            <a:pPr indent="0" marL="0">
              <a:buNone/>
            </a:pPr>
            <a:r>
              <a:rPr lang="en-US" sz="1100" dirty="0">
                <a:solidFill>
                  <a:srgbClr val="5B6472"/>
                </a:solidFill>
                <a:latin typeface="Arial" pitchFamily="34" charset="0"/>
                <a:ea typeface="Arial" pitchFamily="34" charset="-122"/>
                <a:cs typeface="Arial" pitchFamily="34" charset="-120"/>
              </a:rPr>
              <a:t>Leakage-safe history lookups</a:t>
            </a:r>
            <a:endParaRPr lang="en-US" sz="1100" dirty="0"/>
          </a:p>
        </p:txBody>
      </p:sp>
      <p:sp>
        <p:nvSpPr>
          <p:cNvPr id="13" name="Shape 11"/>
          <p:cNvSpPr/>
          <p:nvPr/>
        </p:nvSpPr>
        <p:spPr>
          <a:xfrm>
            <a:off x="4160520" y="3447288"/>
            <a:ext cx="0" cy="164592"/>
          </a:xfrm>
          <a:prstGeom prst="line">
            <a:avLst/>
          </a:prstGeom>
          <a:noFill/>
          <a:ln w="19050">
            <a:solidFill>
              <a:srgbClr val="B8C4D6"/>
            </a:solidFill>
            <a:prstDash val="solid"/>
            <a:tailEnd type="triangle"/>
          </a:ln>
        </p:spPr>
      </p:sp>
      <p:sp>
        <p:nvSpPr>
          <p:cNvPr id="14" name="Shape 12"/>
          <p:cNvSpPr/>
          <p:nvPr/>
        </p:nvSpPr>
        <p:spPr>
          <a:xfrm>
            <a:off x="822960" y="3611880"/>
            <a:ext cx="6675120" cy="658368"/>
          </a:xfrm>
          <a:prstGeom prst="roundRect">
            <a:avLst>
              <a:gd name="adj" fmla="val 13889"/>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15" name="Shape 13"/>
          <p:cNvSpPr/>
          <p:nvPr/>
        </p:nvSpPr>
        <p:spPr>
          <a:xfrm>
            <a:off x="822960" y="3611880"/>
            <a:ext cx="109728" cy="658368"/>
          </a:xfrm>
          <a:prstGeom prst="roundRect">
            <a:avLst/>
          </a:prstGeom>
          <a:solidFill>
            <a:srgbClr val="6B46C1"/>
          </a:solidFill>
          <a:ln/>
        </p:spPr>
      </p:sp>
      <p:sp>
        <p:nvSpPr>
          <p:cNvPr id="16" name="Text 14"/>
          <p:cNvSpPr/>
          <p:nvPr/>
        </p:nvSpPr>
        <p:spPr>
          <a:xfrm>
            <a:off x="1143000" y="3666744"/>
            <a:ext cx="6126480" cy="320040"/>
          </a:xfrm>
          <a:prstGeom prst="rect">
            <a:avLst/>
          </a:prstGeom>
          <a:noFill/>
          <a:ln/>
        </p:spPr>
        <p:txBody>
          <a:bodyPr wrap="square" lIns="0" tIns="0" rIns="0" bIns="0" rtlCol="0" anchor="ctr"/>
          <a:lstStyle/>
          <a:p>
            <a:pPr indent="0" marL="0">
              <a:buNone/>
            </a:pPr>
            <a:r>
              <a:rPr lang="en-US" sz="1400" b="1" dirty="0">
                <a:solidFill>
                  <a:srgbClr val="0C2451"/>
                </a:solidFill>
                <a:latin typeface="Arial" pitchFamily="34" charset="0"/>
                <a:ea typeface="Arial" pitchFamily="34" charset="-122"/>
                <a:cs typeface="Arial" pitchFamily="34" charset="-120"/>
              </a:rPr>
              <a:t>XGBoost + SHAP</a:t>
            </a:r>
            <a:endParaRPr lang="en-US" sz="1400" dirty="0"/>
          </a:p>
        </p:txBody>
      </p:sp>
      <p:sp>
        <p:nvSpPr>
          <p:cNvPr id="17" name="Text 15"/>
          <p:cNvSpPr/>
          <p:nvPr/>
        </p:nvSpPr>
        <p:spPr>
          <a:xfrm>
            <a:off x="1143000" y="3959352"/>
            <a:ext cx="6126480" cy="274320"/>
          </a:xfrm>
          <a:prstGeom prst="rect">
            <a:avLst/>
          </a:prstGeom>
          <a:noFill/>
          <a:ln/>
        </p:spPr>
        <p:txBody>
          <a:bodyPr wrap="square" lIns="0" tIns="0" rIns="0" bIns="0" rtlCol="0" anchor="ctr"/>
          <a:lstStyle/>
          <a:p>
            <a:pPr indent="0" marL="0">
              <a:buNone/>
            </a:pPr>
            <a:r>
              <a:rPr lang="en-US" sz="1100" dirty="0">
                <a:solidFill>
                  <a:srgbClr val="5B6472"/>
                </a:solidFill>
                <a:latin typeface="Arial" pitchFamily="34" charset="0"/>
                <a:ea typeface="Arial" pitchFamily="34" charset="-122"/>
                <a:cs typeface="Arial" pitchFamily="34" charset="-120"/>
              </a:rPr>
              <a:t>Score + per-transaction explanation</a:t>
            </a:r>
            <a:endParaRPr lang="en-US" sz="1100" dirty="0"/>
          </a:p>
        </p:txBody>
      </p:sp>
      <p:sp>
        <p:nvSpPr>
          <p:cNvPr id="18" name="Shape 16"/>
          <p:cNvSpPr/>
          <p:nvPr/>
        </p:nvSpPr>
        <p:spPr>
          <a:xfrm>
            <a:off x="4160520" y="4270248"/>
            <a:ext cx="0" cy="164592"/>
          </a:xfrm>
          <a:prstGeom prst="line">
            <a:avLst/>
          </a:prstGeom>
          <a:noFill/>
          <a:ln w="19050">
            <a:solidFill>
              <a:srgbClr val="B8C4D6"/>
            </a:solidFill>
            <a:prstDash val="solid"/>
            <a:tailEnd type="triangle"/>
          </a:ln>
        </p:spPr>
      </p:sp>
      <p:sp>
        <p:nvSpPr>
          <p:cNvPr id="19" name="Shape 17"/>
          <p:cNvSpPr/>
          <p:nvPr/>
        </p:nvSpPr>
        <p:spPr>
          <a:xfrm>
            <a:off x="822960" y="4434840"/>
            <a:ext cx="6675120" cy="658368"/>
          </a:xfrm>
          <a:prstGeom prst="roundRect">
            <a:avLst>
              <a:gd name="adj" fmla="val 13889"/>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20" name="Shape 18"/>
          <p:cNvSpPr/>
          <p:nvPr/>
        </p:nvSpPr>
        <p:spPr>
          <a:xfrm>
            <a:off x="822960" y="4434840"/>
            <a:ext cx="109728" cy="658368"/>
          </a:xfrm>
          <a:prstGeom prst="roundRect">
            <a:avLst/>
          </a:prstGeom>
          <a:solidFill>
            <a:srgbClr val="1F5FCC"/>
          </a:solidFill>
          <a:ln/>
        </p:spPr>
      </p:sp>
      <p:sp>
        <p:nvSpPr>
          <p:cNvPr id="21" name="Text 19"/>
          <p:cNvSpPr/>
          <p:nvPr/>
        </p:nvSpPr>
        <p:spPr>
          <a:xfrm>
            <a:off x="1143000" y="4489704"/>
            <a:ext cx="6126480" cy="320040"/>
          </a:xfrm>
          <a:prstGeom prst="rect">
            <a:avLst/>
          </a:prstGeom>
          <a:noFill/>
          <a:ln/>
        </p:spPr>
        <p:txBody>
          <a:bodyPr wrap="square" lIns="0" tIns="0" rIns="0" bIns="0" rtlCol="0" anchor="ctr"/>
          <a:lstStyle/>
          <a:p>
            <a:pPr indent="0" marL="0">
              <a:buNone/>
            </a:pPr>
            <a:r>
              <a:rPr lang="en-US" sz="1400" b="1" dirty="0">
                <a:solidFill>
                  <a:srgbClr val="0C2451"/>
                </a:solidFill>
                <a:latin typeface="Arial" pitchFamily="34" charset="0"/>
                <a:ea typeface="Arial" pitchFamily="34" charset="-122"/>
                <a:cs typeface="Arial" pitchFamily="34" charset="-120"/>
              </a:rPr>
              <a:t>FastAPI backend</a:t>
            </a:r>
            <a:endParaRPr lang="en-US" sz="1400" dirty="0"/>
          </a:p>
        </p:txBody>
      </p:sp>
      <p:sp>
        <p:nvSpPr>
          <p:cNvPr id="22" name="Text 20"/>
          <p:cNvSpPr/>
          <p:nvPr/>
        </p:nvSpPr>
        <p:spPr>
          <a:xfrm>
            <a:off x="1143000" y="4782312"/>
            <a:ext cx="6126480" cy="274320"/>
          </a:xfrm>
          <a:prstGeom prst="rect">
            <a:avLst/>
          </a:prstGeom>
          <a:noFill/>
          <a:ln/>
        </p:spPr>
        <p:txBody>
          <a:bodyPr wrap="square" lIns="0" tIns="0" rIns="0" bIns="0" rtlCol="0" anchor="ctr"/>
          <a:lstStyle/>
          <a:p>
            <a:pPr indent="0" marL="0">
              <a:buNone/>
            </a:pPr>
            <a:r>
              <a:rPr lang="en-US" sz="1100" dirty="0">
                <a:solidFill>
                  <a:srgbClr val="5B6472"/>
                </a:solidFill>
                <a:latin typeface="Arial" pitchFamily="34" charset="0"/>
                <a:ea typeface="Arial" pitchFamily="34" charset="-122"/>
                <a:cs typeface="Arial" pitchFamily="34" charset="-120"/>
              </a:rPr>
              <a:t>/score  /explain  — live lookup</a:t>
            </a:r>
            <a:endParaRPr lang="en-US" sz="1100" dirty="0"/>
          </a:p>
        </p:txBody>
      </p:sp>
      <p:sp>
        <p:nvSpPr>
          <p:cNvPr id="23" name="Shape 21"/>
          <p:cNvSpPr/>
          <p:nvPr/>
        </p:nvSpPr>
        <p:spPr>
          <a:xfrm>
            <a:off x="4160520" y="5093208"/>
            <a:ext cx="0" cy="164592"/>
          </a:xfrm>
          <a:prstGeom prst="line">
            <a:avLst/>
          </a:prstGeom>
          <a:noFill/>
          <a:ln w="19050">
            <a:solidFill>
              <a:srgbClr val="B8C4D6"/>
            </a:solidFill>
            <a:prstDash val="solid"/>
            <a:tailEnd type="triangle"/>
          </a:ln>
        </p:spPr>
      </p:sp>
      <p:sp>
        <p:nvSpPr>
          <p:cNvPr id="24" name="Shape 22"/>
          <p:cNvSpPr/>
          <p:nvPr/>
        </p:nvSpPr>
        <p:spPr>
          <a:xfrm>
            <a:off x="822960" y="5257800"/>
            <a:ext cx="6675120" cy="658368"/>
          </a:xfrm>
          <a:prstGeom prst="roundRect">
            <a:avLst>
              <a:gd name="adj" fmla="val 13889"/>
            </a:avLst>
          </a:prstGeom>
          <a:solidFill>
            <a:srgbClr val="FFFFFF"/>
          </a:solidFill>
          <a:ln w="12700">
            <a:solidFill>
              <a:srgbClr val="E3E8F0"/>
            </a:solidFill>
            <a:prstDash val="solid"/>
          </a:ln>
          <a:effectLst>
            <a:outerShdw sx="100000" sy="100000" kx="0" ky="0" algn="bl" rotWithShape="0" blurRad="76200" dist="25400" dir="5400000">
              <a:srgbClr val="1A2540">
                <a:alpha val="18000"/>
              </a:srgbClr>
            </a:outerShdw>
          </a:effectLst>
        </p:spPr>
      </p:sp>
      <p:sp>
        <p:nvSpPr>
          <p:cNvPr id="25" name="Shape 23"/>
          <p:cNvSpPr/>
          <p:nvPr/>
        </p:nvSpPr>
        <p:spPr>
          <a:xfrm>
            <a:off x="822960" y="5257800"/>
            <a:ext cx="109728" cy="658368"/>
          </a:xfrm>
          <a:prstGeom prst="roundRect">
            <a:avLst/>
          </a:prstGeom>
          <a:solidFill>
            <a:srgbClr val="D85A30"/>
          </a:solidFill>
          <a:ln/>
        </p:spPr>
      </p:sp>
      <p:sp>
        <p:nvSpPr>
          <p:cNvPr id="26" name="Text 24"/>
          <p:cNvSpPr/>
          <p:nvPr/>
        </p:nvSpPr>
        <p:spPr>
          <a:xfrm>
            <a:off x="1143000" y="5312664"/>
            <a:ext cx="6126480" cy="320040"/>
          </a:xfrm>
          <a:prstGeom prst="rect">
            <a:avLst/>
          </a:prstGeom>
          <a:noFill/>
          <a:ln/>
        </p:spPr>
        <p:txBody>
          <a:bodyPr wrap="square" lIns="0" tIns="0" rIns="0" bIns="0" rtlCol="0" anchor="ctr"/>
          <a:lstStyle/>
          <a:p>
            <a:pPr indent="0" marL="0">
              <a:buNone/>
            </a:pPr>
            <a:r>
              <a:rPr lang="en-US" sz="1400" b="1" dirty="0">
                <a:solidFill>
                  <a:srgbClr val="0C2451"/>
                </a:solidFill>
                <a:latin typeface="Arial" pitchFamily="34" charset="0"/>
                <a:ea typeface="Arial" pitchFamily="34" charset="-122"/>
                <a:cs typeface="Arial" pitchFamily="34" charset="-120"/>
              </a:rPr>
              <a:t>Streamlit dashboard</a:t>
            </a:r>
            <a:endParaRPr lang="en-US" sz="1400" dirty="0"/>
          </a:p>
        </p:txBody>
      </p:sp>
      <p:sp>
        <p:nvSpPr>
          <p:cNvPr id="27" name="Text 25"/>
          <p:cNvSpPr/>
          <p:nvPr/>
        </p:nvSpPr>
        <p:spPr>
          <a:xfrm>
            <a:off x="1143000" y="5605272"/>
            <a:ext cx="6126480" cy="274320"/>
          </a:xfrm>
          <a:prstGeom prst="rect">
            <a:avLst/>
          </a:prstGeom>
          <a:noFill/>
          <a:ln/>
        </p:spPr>
        <p:txBody>
          <a:bodyPr wrap="square" lIns="0" tIns="0" rIns="0" bIns="0" rtlCol="0" anchor="ctr"/>
          <a:lstStyle/>
          <a:p>
            <a:pPr indent="0" marL="0">
              <a:buNone/>
            </a:pPr>
            <a:r>
              <a:rPr lang="en-US" sz="1100" dirty="0">
                <a:solidFill>
                  <a:srgbClr val="5B6472"/>
                </a:solidFill>
                <a:latin typeface="Arial" pitchFamily="34" charset="0"/>
                <a:ea typeface="Arial" pitchFamily="34" charset="-122"/>
                <a:cs typeface="Arial" pitchFamily="34" charset="-120"/>
              </a:rPr>
              <a:t>Live scorer, PR curve, thresholds</a:t>
            </a:r>
            <a:endParaRPr lang="en-US" sz="1100" dirty="0"/>
          </a:p>
        </p:txBody>
      </p:sp>
      <p:sp>
        <p:nvSpPr>
          <p:cNvPr id="28" name="Shape 26"/>
          <p:cNvSpPr/>
          <p:nvPr/>
        </p:nvSpPr>
        <p:spPr>
          <a:xfrm>
            <a:off x="7818120" y="1965960"/>
            <a:ext cx="3566160" cy="4114800"/>
          </a:xfrm>
          <a:prstGeom prst="roundRect">
            <a:avLst>
              <a:gd name="adj" fmla="val 3077"/>
            </a:avLst>
          </a:prstGeom>
          <a:solidFill>
            <a:srgbClr val="0C2451"/>
          </a:solidFill>
          <a:ln/>
        </p:spPr>
      </p:sp>
      <p:sp>
        <p:nvSpPr>
          <p:cNvPr id="29" name="Text 27"/>
          <p:cNvSpPr/>
          <p:nvPr/>
        </p:nvSpPr>
        <p:spPr>
          <a:xfrm>
            <a:off x="8092440" y="2194560"/>
            <a:ext cx="301752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What the demo shows</a:t>
            </a:r>
            <a:endParaRPr lang="en-US" sz="1400" dirty="0"/>
          </a:p>
        </p:txBody>
      </p:sp>
      <p:sp>
        <p:nvSpPr>
          <p:cNvPr id="30" name="Text 28"/>
          <p:cNvSpPr/>
          <p:nvPr/>
        </p:nvSpPr>
        <p:spPr>
          <a:xfrm>
            <a:off x="8092440" y="2651760"/>
            <a:ext cx="3017520" cy="3200400"/>
          </a:xfrm>
          <a:prstGeom prst="rect">
            <a:avLst/>
          </a:prstGeom>
          <a:noFill/>
          <a:ln/>
        </p:spPr>
        <p:txBody>
          <a:bodyPr wrap="square" lIns="0" tIns="0" rIns="0" bIns="0" rtlCol="0" anchor="ctr"/>
          <a:lstStyle/>
          <a:p>
            <a:pPr indent="0" marL="0">
              <a:lnSpc>
                <a:spcPct val="140000"/>
              </a:lnSpc>
              <a:buNone/>
            </a:pPr>
            <a:r>
              <a:rPr lang="en-US" sz="1250" dirty="0">
                <a:solidFill>
                  <a:srgbClr val="3395FF"/>
                </a:solidFill>
                <a:latin typeface="Arial" pitchFamily="34" charset="0"/>
                <a:ea typeface="Arial" pitchFamily="34" charset="-122"/>
                <a:cs typeface="Arial" pitchFamily="34" charset="-120"/>
              </a:rPr>
              <a:t>•  </a:t>
            </a:r>
            <a:pPr indent="0" marL="0">
              <a:lnSpc>
                <a:spcPct val="140000"/>
              </a:lnSpc>
              <a:buNone/>
            </a:pPr>
            <a:r>
              <a:rPr lang="en-US" sz="1250" dirty="0">
                <a:solidFill>
                  <a:srgbClr val="DCE5F5"/>
                </a:solidFill>
                <a:latin typeface="Arial" pitchFamily="34" charset="0"/>
                <a:ea typeface="Arial" pitchFamily="34" charset="-122"/>
                <a:cs typeface="Arial" pitchFamily="34" charset="-120"/>
              </a:rPr>
              <a:t>Type in a transaction, get a live risk score
</a:t>
            </a:r>
            <a:pPr indent="0" marL="0">
              <a:lnSpc>
                <a:spcPct val="140000"/>
              </a:lnSpc>
              <a:buNone/>
            </a:pPr>
            <a:r>
              <a:rPr lang="en-US" sz="1250" dirty="0">
                <a:solidFill>
                  <a:srgbClr val="3395FF"/>
                </a:solidFill>
                <a:latin typeface="Arial" pitchFamily="34" charset="0"/>
                <a:ea typeface="Arial" pitchFamily="34" charset="-122"/>
                <a:cs typeface="Arial" pitchFamily="34" charset="-120"/>
              </a:rPr>
              <a:t>•  </a:t>
            </a:r>
            <a:pPr indent="0" marL="0">
              <a:lnSpc>
                <a:spcPct val="140000"/>
              </a:lnSpc>
              <a:buNone/>
            </a:pPr>
            <a:r>
              <a:rPr lang="en-US" sz="1250" dirty="0">
                <a:solidFill>
                  <a:srgbClr val="DCE5F5"/>
                </a:solidFill>
                <a:latin typeface="Arial" pitchFamily="34" charset="0"/>
                <a:ea typeface="Arial" pitchFamily="34" charset="-122"/>
                <a:cs typeface="Arial" pitchFamily="34" charset="-120"/>
              </a:rPr>
              <a:t>See exactly which factors drove the score
</a:t>
            </a:r>
            <a:pPr indent="0" marL="0">
              <a:lnSpc>
                <a:spcPct val="140000"/>
              </a:lnSpc>
              <a:buNone/>
            </a:pPr>
            <a:r>
              <a:rPr lang="en-US" sz="1250" dirty="0">
                <a:solidFill>
                  <a:srgbClr val="3395FF"/>
                </a:solidFill>
                <a:latin typeface="Arial" pitchFamily="34" charset="0"/>
                <a:ea typeface="Arial" pitchFamily="34" charset="-122"/>
                <a:cs typeface="Arial" pitchFamily="34" charset="-120"/>
              </a:rPr>
              <a:t>•  </a:t>
            </a:r>
            <a:pPr indent="0" marL="0">
              <a:lnSpc>
                <a:spcPct val="140000"/>
              </a:lnSpc>
              <a:buNone/>
            </a:pPr>
            <a:r>
              <a:rPr lang="en-US" sz="1250" dirty="0">
                <a:solidFill>
                  <a:srgbClr val="DCE5F5"/>
                </a:solidFill>
                <a:latin typeface="Arial" pitchFamily="34" charset="0"/>
                <a:ea typeface="Arial" pitchFamily="34" charset="-122"/>
                <a:cs typeface="Arial" pitchFamily="34" charset="-120"/>
              </a:rPr>
              <a:t>Drag the threshold, watch precision/recall trade off
</a:t>
            </a:r>
            <a:pPr indent="0" marL="0">
              <a:lnSpc>
                <a:spcPct val="140000"/>
              </a:lnSpc>
              <a:buNone/>
            </a:pPr>
            <a:r>
              <a:rPr lang="en-US" sz="1250" dirty="0">
                <a:solidFill>
                  <a:srgbClr val="3395FF"/>
                </a:solidFill>
                <a:latin typeface="Arial" pitchFamily="34" charset="0"/>
                <a:ea typeface="Arial" pitchFamily="34" charset="-122"/>
                <a:cs typeface="Arial" pitchFamily="34" charset="-120"/>
              </a:rPr>
              <a:t>•  </a:t>
            </a:r>
            <a:pPr indent="0" marL="0">
              <a:lnSpc>
                <a:spcPct val="140000"/>
              </a:lnSpc>
              <a:buNone/>
            </a:pPr>
            <a:r>
              <a:rPr lang="en-US" sz="1250" dirty="0">
                <a:solidFill>
                  <a:srgbClr val="DCE5F5"/>
                </a:solidFill>
                <a:latin typeface="Arial" pitchFamily="34" charset="0"/>
                <a:ea typeface="Arial" pitchFamily="34" charset="-122"/>
                <a:cs typeface="Arial" pitchFamily="34" charset="-120"/>
              </a:rPr>
              <a:t>A minimum-amount rule guards against a real edge case found live
</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2451"/>
        </a:solidFill>
      </p:bgPr>
    </p:bg>
    <p:spTree>
      <p:nvGrpSpPr>
        <p:cNvPr id="1" name=""/>
        <p:cNvGrpSpPr/>
        <p:nvPr/>
      </p:nvGrpSpPr>
      <p:grpSpPr>
        <a:xfrm>
          <a:off x="0" y="0"/>
          <a:ext cx="0" cy="0"/>
          <a:chOff x="0" y="0"/>
          <a:chExt cx="0" cy="0"/>
        </a:xfrm>
      </p:grpSpPr>
      <p:sp>
        <p:nvSpPr>
          <p:cNvPr id="2" name="Text 0"/>
          <p:cNvSpPr/>
          <p:nvPr/>
        </p:nvSpPr>
        <p:spPr>
          <a:xfrm>
            <a:off x="822960" y="502920"/>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Honest about where it breaks</a:t>
            </a:r>
            <a:endParaRPr lang="en-US" sz="3000" dirty="0"/>
          </a:p>
        </p:txBody>
      </p:sp>
      <p:sp>
        <p:nvSpPr>
          <p:cNvPr id="3" name="Text 1"/>
          <p:cNvSpPr/>
          <p:nvPr/>
        </p:nvSpPr>
        <p:spPr>
          <a:xfrm>
            <a:off x="822960" y="1051560"/>
            <a:ext cx="9601200" cy="457200"/>
          </a:xfrm>
          <a:prstGeom prst="rect">
            <a:avLst/>
          </a:prstGeom>
          <a:noFill/>
          <a:ln/>
        </p:spPr>
        <p:txBody>
          <a:bodyPr wrap="square" lIns="0" tIns="0" rIns="0" bIns="0" rtlCol="0" anchor="ctr"/>
          <a:lstStyle/>
          <a:p>
            <a:pPr indent="0" marL="0">
              <a:buNone/>
            </a:pPr>
            <a:r>
              <a:rPr lang="en-US" sz="1500" dirty="0">
                <a:solidFill>
                  <a:srgbClr val="B8C7E8"/>
                </a:solidFill>
                <a:latin typeface="Arial" pitchFamily="34" charset="0"/>
                <a:ea typeface="Arial" pitchFamily="34" charset="-122"/>
                <a:cs typeface="Arial" pitchFamily="34" charset="-120"/>
              </a:rPr>
              <a:t>No cherry-picked match proves anything — here's what we found</a:t>
            </a:r>
            <a:endParaRPr lang="en-US" sz="1500" dirty="0"/>
          </a:p>
        </p:txBody>
      </p:sp>
      <p:sp>
        <p:nvSpPr>
          <p:cNvPr id="4" name="Shape 2"/>
          <p:cNvSpPr/>
          <p:nvPr/>
        </p:nvSpPr>
        <p:spPr>
          <a:xfrm>
            <a:off x="822960" y="1920240"/>
            <a:ext cx="3300984" cy="2286000"/>
          </a:xfrm>
          <a:prstGeom prst="roundRect">
            <a:avLst>
              <a:gd name="adj" fmla="val 4800"/>
            </a:avLst>
          </a:prstGeom>
          <a:solidFill>
            <a:srgbClr val="142E5E"/>
          </a:solidFill>
          <a:ln w="12700">
            <a:solidFill>
              <a:srgbClr val="27407A"/>
            </a:solidFill>
            <a:prstDash val="solid"/>
          </a:ln>
        </p:spPr>
      </p:sp>
      <p:sp>
        <p:nvSpPr>
          <p:cNvPr id="5" name="Text 3"/>
          <p:cNvSpPr/>
          <p:nvPr/>
        </p:nvSpPr>
        <p:spPr>
          <a:xfrm>
            <a:off x="1078992" y="2121408"/>
            <a:ext cx="2788920" cy="365760"/>
          </a:xfrm>
          <a:prstGeom prst="rect">
            <a:avLst/>
          </a:prstGeom>
          <a:noFill/>
          <a:ln/>
        </p:spPr>
        <p:txBody>
          <a:bodyPr wrap="square" lIns="0" tIns="0" rIns="0" bIns="0" rtlCol="0" anchor="ctr"/>
          <a:lstStyle/>
          <a:p>
            <a:pPr indent="0" marL="0">
              <a:buNone/>
            </a:pPr>
            <a:r>
              <a:rPr lang="en-US" sz="1400" b="1" dirty="0">
                <a:solidFill>
                  <a:srgbClr val="3395FF"/>
                </a:solidFill>
                <a:latin typeface="Arial" pitchFamily="34" charset="0"/>
                <a:ea typeface="Arial" pitchFamily="34" charset="-122"/>
                <a:cs typeface="Arial" pitchFamily="34" charset="-120"/>
              </a:rPr>
              <a:t>False positive</a:t>
            </a:r>
            <a:endParaRPr lang="en-US" sz="1400" dirty="0"/>
          </a:p>
        </p:txBody>
      </p:sp>
      <p:sp>
        <p:nvSpPr>
          <p:cNvPr id="6" name="Text 4"/>
          <p:cNvSpPr/>
          <p:nvPr/>
        </p:nvSpPr>
        <p:spPr>
          <a:xfrm>
            <a:off x="1078992" y="2542032"/>
            <a:ext cx="2788920" cy="1554480"/>
          </a:xfrm>
          <a:prstGeom prst="rect">
            <a:avLst/>
          </a:prstGeom>
          <a:noFill/>
          <a:ln/>
        </p:spPr>
        <p:txBody>
          <a:bodyPr wrap="square" lIns="0" tIns="0" rIns="0" bIns="0" rtlCol="0" anchor="ctr"/>
          <a:lstStyle/>
          <a:p>
            <a:pPr indent="0" marL="0">
              <a:lnSpc>
                <a:spcPct val="125000"/>
              </a:lnSpc>
              <a:buNone/>
            </a:pPr>
            <a:r>
              <a:rPr lang="en-US" sz="1150" dirty="0">
                <a:solidFill>
                  <a:srgbClr val="DCE5F5"/>
                </a:solidFill>
                <a:latin typeface="Arial" pitchFamily="34" charset="0"/>
                <a:ea typeface="Arial" pitchFamily="34" charset="-122"/>
                <a:cs typeface="Arial" pitchFamily="34" charset="-120"/>
              </a:rPr>
              <a:t>A legitimate first-time large transfer, flagged at 99.9% confidence — shares fraud's exact fingerprint without KYC signals to disambiguate.</a:t>
            </a:r>
            <a:endParaRPr lang="en-US" sz="1150" dirty="0"/>
          </a:p>
        </p:txBody>
      </p:sp>
      <p:sp>
        <p:nvSpPr>
          <p:cNvPr id="7" name="Shape 5"/>
          <p:cNvSpPr/>
          <p:nvPr/>
        </p:nvSpPr>
        <p:spPr>
          <a:xfrm>
            <a:off x="4443984" y="1920240"/>
            <a:ext cx="3300984" cy="2286000"/>
          </a:xfrm>
          <a:prstGeom prst="roundRect">
            <a:avLst>
              <a:gd name="adj" fmla="val 4800"/>
            </a:avLst>
          </a:prstGeom>
          <a:solidFill>
            <a:srgbClr val="142E5E"/>
          </a:solidFill>
          <a:ln w="12700">
            <a:solidFill>
              <a:srgbClr val="27407A"/>
            </a:solidFill>
            <a:prstDash val="solid"/>
          </a:ln>
        </p:spPr>
      </p:sp>
      <p:sp>
        <p:nvSpPr>
          <p:cNvPr id="8" name="Text 6"/>
          <p:cNvSpPr/>
          <p:nvPr/>
        </p:nvSpPr>
        <p:spPr>
          <a:xfrm>
            <a:off x="4700016" y="2121408"/>
            <a:ext cx="2788920" cy="365760"/>
          </a:xfrm>
          <a:prstGeom prst="rect">
            <a:avLst/>
          </a:prstGeom>
          <a:noFill/>
          <a:ln/>
        </p:spPr>
        <p:txBody>
          <a:bodyPr wrap="square" lIns="0" tIns="0" rIns="0" bIns="0" rtlCol="0" anchor="ctr"/>
          <a:lstStyle/>
          <a:p>
            <a:pPr indent="0" marL="0">
              <a:buNone/>
            </a:pPr>
            <a:r>
              <a:rPr lang="en-US" sz="1400" b="1" dirty="0">
                <a:solidFill>
                  <a:srgbClr val="3395FF"/>
                </a:solidFill>
                <a:latin typeface="Arial" pitchFamily="34" charset="0"/>
                <a:ea typeface="Arial" pitchFamily="34" charset="-122"/>
                <a:cs typeface="Arial" pitchFamily="34" charset="-120"/>
              </a:rPr>
              <a:t>False negative</a:t>
            </a:r>
            <a:endParaRPr lang="en-US" sz="1400" dirty="0"/>
          </a:p>
        </p:txBody>
      </p:sp>
      <p:sp>
        <p:nvSpPr>
          <p:cNvPr id="9" name="Text 7"/>
          <p:cNvSpPr/>
          <p:nvPr/>
        </p:nvSpPr>
        <p:spPr>
          <a:xfrm>
            <a:off x="4700016" y="2542032"/>
            <a:ext cx="2788920" cy="1554480"/>
          </a:xfrm>
          <a:prstGeom prst="rect">
            <a:avLst/>
          </a:prstGeom>
          <a:noFill/>
          <a:ln/>
        </p:spPr>
        <p:txBody>
          <a:bodyPr wrap="square" lIns="0" tIns="0" rIns="0" bIns="0" rtlCol="0" anchor="ctr"/>
          <a:lstStyle/>
          <a:p>
            <a:pPr indent="0" marL="0">
              <a:lnSpc>
                <a:spcPct val="125000"/>
              </a:lnSpc>
              <a:buNone/>
            </a:pPr>
            <a:r>
              <a:rPr lang="en-US" sz="1150" dirty="0">
                <a:solidFill>
                  <a:srgbClr val="DCE5F5"/>
                </a:solidFill>
                <a:latin typeface="Arial" pitchFamily="34" charset="0"/>
                <a:ea typeface="Arial" pitchFamily="34" charset="-122"/>
                <a:cs typeface="Arial" pitchFamily="34" charset="-120"/>
              </a:rPr>
              <a:t>Fraud that mimicked small, routine transactions slipped past — missed at 49.8%, essentially a coin flip.</a:t>
            </a:r>
            <a:endParaRPr lang="en-US" sz="1150" dirty="0"/>
          </a:p>
        </p:txBody>
      </p:sp>
      <p:sp>
        <p:nvSpPr>
          <p:cNvPr id="10" name="Shape 8"/>
          <p:cNvSpPr/>
          <p:nvPr/>
        </p:nvSpPr>
        <p:spPr>
          <a:xfrm>
            <a:off x="8065008" y="1920240"/>
            <a:ext cx="3300984" cy="2286000"/>
          </a:xfrm>
          <a:prstGeom prst="roundRect">
            <a:avLst>
              <a:gd name="adj" fmla="val 4800"/>
            </a:avLst>
          </a:prstGeom>
          <a:solidFill>
            <a:srgbClr val="142E5E"/>
          </a:solidFill>
          <a:ln w="12700">
            <a:solidFill>
              <a:srgbClr val="27407A"/>
            </a:solidFill>
            <a:prstDash val="solid"/>
          </a:ln>
        </p:spPr>
      </p:sp>
      <p:sp>
        <p:nvSpPr>
          <p:cNvPr id="11" name="Text 9"/>
          <p:cNvSpPr/>
          <p:nvPr/>
        </p:nvSpPr>
        <p:spPr>
          <a:xfrm>
            <a:off x="8321040" y="2121408"/>
            <a:ext cx="2788920" cy="365760"/>
          </a:xfrm>
          <a:prstGeom prst="rect">
            <a:avLst/>
          </a:prstGeom>
          <a:noFill/>
          <a:ln/>
        </p:spPr>
        <p:txBody>
          <a:bodyPr wrap="square" lIns="0" tIns="0" rIns="0" bIns="0" rtlCol="0" anchor="ctr"/>
          <a:lstStyle/>
          <a:p>
            <a:pPr indent="0" marL="0">
              <a:buNone/>
            </a:pPr>
            <a:r>
              <a:rPr lang="en-US" sz="1400" b="1" dirty="0">
                <a:solidFill>
                  <a:srgbClr val="3395FF"/>
                </a:solidFill>
                <a:latin typeface="Arial" pitchFamily="34" charset="0"/>
                <a:ea typeface="Arial" pitchFamily="34" charset="-122"/>
                <a:cs typeface="Arial" pitchFamily="34" charset="-120"/>
              </a:rPr>
              <a:t>Out-of-distribution</a:t>
            </a:r>
            <a:endParaRPr lang="en-US" sz="1400" dirty="0"/>
          </a:p>
        </p:txBody>
      </p:sp>
      <p:sp>
        <p:nvSpPr>
          <p:cNvPr id="12" name="Text 10"/>
          <p:cNvSpPr/>
          <p:nvPr/>
        </p:nvSpPr>
        <p:spPr>
          <a:xfrm>
            <a:off x="8321040" y="2542032"/>
            <a:ext cx="2788920" cy="1554480"/>
          </a:xfrm>
          <a:prstGeom prst="rect">
            <a:avLst/>
          </a:prstGeom>
          <a:noFill/>
          <a:ln/>
        </p:spPr>
        <p:txBody>
          <a:bodyPr wrap="square" lIns="0" tIns="0" rIns="0" bIns="0" rtlCol="0" anchor="ctr"/>
          <a:lstStyle/>
          <a:p>
            <a:pPr indent="0" marL="0">
              <a:lnSpc>
                <a:spcPct val="125000"/>
              </a:lnSpc>
              <a:buNone/>
            </a:pPr>
            <a:r>
              <a:rPr lang="en-US" sz="1150" dirty="0">
                <a:solidFill>
                  <a:srgbClr val="DCE5F5"/>
                </a:solidFill>
                <a:latin typeface="Arial" pitchFamily="34" charset="0"/>
                <a:ea typeface="Arial" pitchFamily="34" charset="-122"/>
                <a:cs typeface="Arial" pitchFamily="34" charset="-120"/>
              </a:rPr>
              <a:t>Found live in the dashboard: a ₹1 transfer flagged HIGH risk. Fixed with a minimum-amount guardrail ahead of the model.</a:t>
            </a:r>
            <a:endParaRPr lang="en-US" sz="1150" dirty="0"/>
          </a:p>
        </p:txBody>
      </p:sp>
      <p:sp>
        <p:nvSpPr>
          <p:cNvPr id="13" name="Shape 11"/>
          <p:cNvSpPr/>
          <p:nvPr/>
        </p:nvSpPr>
        <p:spPr>
          <a:xfrm>
            <a:off x="822960" y="4480560"/>
            <a:ext cx="10515600" cy="0"/>
          </a:xfrm>
          <a:prstGeom prst="line">
            <a:avLst/>
          </a:prstGeom>
          <a:noFill/>
          <a:ln w="12700">
            <a:solidFill>
              <a:srgbClr val="27407A"/>
            </a:solidFill>
            <a:prstDash val="solid"/>
          </a:ln>
        </p:spPr>
      </p:sp>
      <p:sp>
        <p:nvSpPr>
          <p:cNvPr id="14" name="Text 12"/>
          <p:cNvSpPr/>
          <p:nvPr/>
        </p:nvSpPr>
        <p:spPr>
          <a:xfrm>
            <a:off x="822960" y="4663440"/>
            <a:ext cx="548640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What we'd build next</a:t>
            </a:r>
            <a:endParaRPr lang="en-US" sz="1500" dirty="0"/>
          </a:p>
        </p:txBody>
      </p:sp>
      <p:sp>
        <p:nvSpPr>
          <p:cNvPr id="15" name="Text 13"/>
          <p:cNvSpPr/>
          <p:nvPr/>
        </p:nvSpPr>
        <p:spPr>
          <a:xfrm>
            <a:off x="822960" y="5074920"/>
            <a:ext cx="10515600" cy="457200"/>
          </a:xfrm>
          <a:prstGeom prst="rect">
            <a:avLst/>
          </a:prstGeom>
          <a:noFill/>
          <a:ln/>
        </p:spPr>
        <p:txBody>
          <a:bodyPr wrap="square" lIns="0" tIns="0" rIns="0" bIns="0" rtlCol="0" anchor="ctr"/>
          <a:lstStyle/>
          <a:p>
            <a:pPr indent="0" marL="0">
              <a:buNone/>
            </a:pPr>
            <a:r>
              <a:rPr lang="en-US" sz="1300" dirty="0">
                <a:solidFill>
                  <a:srgbClr val="B8C7E8"/>
                </a:solidFill>
                <a:latin typeface="Arial" pitchFamily="34" charset="0"/>
                <a:ea typeface="Arial" pitchFamily="34" charset="-122"/>
                <a:cs typeface="Arial" pitchFamily="34" charset="-120"/>
              </a:rPr>
              <a:t>Recipient-pair history  ·  anomaly-detection ensemble  ·  account verification signals  ·  persistent feature store</a:t>
            </a:r>
            <a:endParaRPr lang="en-US" sz="1300" dirty="0"/>
          </a:p>
        </p:txBody>
      </p:sp>
      <p:sp>
        <p:nvSpPr>
          <p:cNvPr id="16" name="Shape 14"/>
          <p:cNvSpPr/>
          <p:nvPr/>
        </p:nvSpPr>
        <p:spPr>
          <a:xfrm>
            <a:off x="822960" y="5669280"/>
            <a:ext cx="10515600" cy="0"/>
          </a:xfrm>
          <a:prstGeom prst="line">
            <a:avLst/>
          </a:prstGeom>
          <a:noFill/>
          <a:ln w="12700">
            <a:solidFill>
              <a:srgbClr val="27407A"/>
            </a:solidFill>
            <a:prstDash val="solid"/>
          </a:ln>
        </p:spPr>
      </p:sp>
      <p:sp>
        <p:nvSpPr>
          <p:cNvPr id="17" name="Text 15"/>
          <p:cNvSpPr/>
          <p:nvPr/>
        </p:nvSpPr>
        <p:spPr>
          <a:xfrm>
            <a:off x="822960" y="5852160"/>
            <a:ext cx="7315200"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github.com/StealBird/RazorPay-ai_risk_manager</a:t>
            </a:r>
            <a:endParaRPr lang="en-US" sz="1400" dirty="0"/>
          </a:p>
        </p:txBody>
      </p:sp>
      <p:sp>
        <p:nvSpPr>
          <p:cNvPr id="18" name="Text 16"/>
          <p:cNvSpPr/>
          <p:nvPr/>
        </p:nvSpPr>
        <p:spPr>
          <a:xfrm>
            <a:off x="822960" y="6263640"/>
            <a:ext cx="7315200" cy="365760"/>
          </a:xfrm>
          <a:prstGeom prst="rect">
            <a:avLst/>
          </a:prstGeom>
          <a:noFill/>
          <a:ln/>
        </p:spPr>
        <p:txBody>
          <a:bodyPr wrap="square" lIns="0" tIns="0" rIns="0" bIns="0" rtlCol="0" anchor="ctr"/>
          <a:lstStyle/>
          <a:p>
            <a:pPr indent="0" marL="0">
              <a:buNone/>
            </a:pPr>
            <a:r>
              <a:rPr lang="en-US" sz="1200" dirty="0">
                <a:solidFill>
                  <a:srgbClr val="7C8FB3"/>
                </a:solidFill>
                <a:latin typeface="Arial" pitchFamily="34" charset="0"/>
                <a:ea typeface="Arial" pitchFamily="34" charset="-122"/>
                <a:cs typeface="Arial" pitchFamily="34" charset="-120"/>
              </a:rPr>
              <a:t>Full writeups in docs/  ·  Built by 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2026-08-25T12:05:20Z</dcterms:created>
  <dcterms:modified xsi:type="dcterms:W3CDTF">2026-08-25T12:05:20Z</dcterms:modified>
</cp:coreProperties>
</file>